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1"/>
  </p:notesMasterIdLst>
  <p:sldIdLst>
    <p:sldId id="256" r:id="rId2"/>
    <p:sldId id="257" r:id="rId3"/>
    <p:sldId id="258" r:id="rId4"/>
    <p:sldId id="261" r:id="rId5"/>
    <p:sldId id="259" r:id="rId6"/>
    <p:sldId id="284" r:id="rId7"/>
    <p:sldId id="279" r:id="rId8"/>
    <p:sldId id="280" r:id="rId9"/>
    <p:sldId id="283" r:id="rId10"/>
    <p:sldId id="274" r:id="rId11"/>
    <p:sldId id="278" r:id="rId12"/>
    <p:sldId id="262" r:id="rId13"/>
    <p:sldId id="281" r:id="rId14"/>
    <p:sldId id="291" r:id="rId15"/>
    <p:sldId id="292" r:id="rId16"/>
    <p:sldId id="293" r:id="rId17"/>
    <p:sldId id="294" r:id="rId18"/>
    <p:sldId id="295" r:id="rId19"/>
    <p:sldId id="276" r:id="rId2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203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51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995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0244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2890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260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7184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4365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2520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5950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6659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3275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2697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648406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77401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86388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7951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76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15637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47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15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FFFFFF"/>
                </a:solidFill>
              </a:rPr>
              <a:t>Automatización</a:t>
            </a:r>
            <a:r>
              <a:rPr lang="en-US" sz="4400" b="1" dirty="0">
                <a:solidFill>
                  <a:srgbClr val="FFFFFF"/>
                </a:solidFill>
              </a:rPr>
              <a:t> de Redes con Ansible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14B8A6"/>
                </a:solidFill>
              </a:rPr>
              <a:t>Visión </a:t>
            </a:r>
            <a:r>
              <a:rPr lang="en-US" sz="2400" i="1" dirty="0" err="1">
                <a:solidFill>
                  <a:srgbClr val="14B8A6"/>
                </a:solidFill>
              </a:rPr>
              <a:t>desde</a:t>
            </a:r>
            <a:r>
              <a:rPr lang="en-US" sz="2400" i="1" dirty="0">
                <a:solidFill>
                  <a:srgbClr val="14B8A6"/>
                </a:solidFill>
              </a:rPr>
              <a:t> Red Hat y </a:t>
            </a:r>
            <a:r>
              <a:rPr lang="en-US" sz="2400" i="1" dirty="0" err="1">
                <a:solidFill>
                  <a:srgbClr val="14B8A6"/>
                </a:solidFill>
              </a:rPr>
              <a:t>casos</a:t>
            </a:r>
            <a:r>
              <a:rPr lang="en-US" sz="2400" i="1" dirty="0">
                <a:solidFill>
                  <a:srgbClr val="14B8A6"/>
                </a:solidFill>
              </a:rPr>
              <a:t> de </a:t>
            </a:r>
            <a:r>
              <a:rPr lang="en-US" sz="2400" i="1" dirty="0" err="1">
                <a:solidFill>
                  <a:srgbClr val="14B8A6"/>
                </a:solidFill>
              </a:rPr>
              <a:t>uso</a:t>
            </a:r>
            <a:r>
              <a:rPr lang="en-US" sz="2400" i="1" dirty="0">
                <a:solidFill>
                  <a:srgbClr val="14B8A6"/>
                </a:solidFill>
              </a:rPr>
              <a:t> reales 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César Francisco San Nicolás Martínez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E293B"/>
                </a:solidFill>
              </a:rPr>
              <a:t>Índice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73152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1. </a:t>
            </a:r>
            <a:r>
              <a:rPr lang="en-US" sz="1800" dirty="0" err="1">
                <a:solidFill>
                  <a:srgbClr val="334155"/>
                </a:solidFill>
              </a:rPr>
              <a:t>Introducció</a:t>
            </a:r>
            <a:r>
              <a:rPr lang="en-US" dirty="0" err="1">
                <a:solidFill>
                  <a:srgbClr val="334155"/>
                </a:solidFill>
              </a:rPr>
              <a:t>n</a:t>
            </a:r>
            <a:r>
              <a:rPr lang="en-US" dirty="0">
                <a:solidFill>
                  <a:srgbClr val="334155"/>
                </a:solidFill>
              </a:rPr>
              <a:t>: </a:t>
            </a:r>
            <a:r>
              <a:rPr lang="en-US" dirty="0" err="1">
                <a:solidFill>
                  <a:srgbClr val="334155"/>
                </a:solidFill>
              </a:rPr>
              <a:t>IaC</a:t>
            </a:r>
            <a:r>
              <a:rPr lang="en-US" dirty="0">
                <a:solidFill>
                  <a:srgbClr val="334155"/>
                </a:solidFill>
              </a:rPr>
              <a:t> y </a:t>
            </a:r>
            <a:r>
              <a:rPr lang="en-US" dirty="0" err="1">
                <a:solidFill>
                  <a:srgbClr val="334155"/>
                </a:solidFill>
              </a:rPr>
              <a:t>NetDevOps</a:t>
            </a:r>
            <a:endParaRPr lang="en-US" dirty="0">
              <a:solidFill>
                <a:srgbClr val="334155"/>
              </a:solidFill>
            </a:endParaRPr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2. Ansible: Visión General</a:t>
            </a:r>
          </a:p>
          <a:p>
            <a:pPr marL="342900" indent="-342900">
              <a:buSzPct val="100000"/>
              <a:buChar char="•"/>
            </a:pPr>
            <a:endParaRPr lang="en-US" sz="1800" dirty="0">
              <a:solidFill>
                <a:srgbClr val="334155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4155"/>
                </a:solidFill>
              </a:rPr>
              <a:t>3. </a:t>
            </a:r>
            <a:r>
              <a:rPr lang="es-ES" dirty="0">
                <a:solidFill>
                  <a:srgbClr val="334155"/>
                </a:solidFill>
              </a:rPr>
              <a:t>Caso Práctico: </a:t>
            </a:r>
            <a:r>
              <a:rPr lang="es-ES" dirty="0" err="1">
                <a:solidFill>
                  <a:srgbClr val="334155"/>
                </a:solidFill>
              </a:rPr>
              <a:t>Lab</a:t>
            </a:r>
            <a:r>
              <a:rPr lang="es-ES" dirty="0">
                <a:solidFill>
                  <a:srgbClr val="334155"/>
                </a:solidFill>
              </a:rPr>
              <a:t> OSPF con Ansible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</a:rPr>
              <a:t>1. </a:t>
            </a:r>
            <a:r>
              <a:rPr lang="en-US" sz="3600" b="1" dirty="0" err="1">
                <a:solidFill>
                  <a:srgbClr val="1E293B"/>
                </a:solidFill>
              </a:rPr>
              <a:t>Introducción</a:t>
            </a:r>
            <a:r>
              <a:rPr lang="en-US" sz="3600" b="1" dirty="0">
                <a:solidFill>
                  <a:srgbClr val="1E293B"/>
                </a:solidFill>
              </a:rPr>
              <a:t>: </a:t>
            </a:r>
            <a:r>
              <a:rPr lang="en-US" sz="3600" b="1" dirty="0" err="1">
                <a:solidFill>
                  <a:srgbClr val="1E293B"/>
                </a:solidFill>
              </a:rPr>
              <a:t>IaC</a:t>
            </a:r>
            <a:r>
              <a:rPr lang="en-US" sz="3600" b="1" dirty="0">
                <a:solidFill>
                  <a:srgbClr val="1E293B"/>
                </a:solidFill>
              </a:rPr>
              <a:t> y </a:t>
            </a:r>
            <a:r>
              <a:rPr lang="en-US" sz="3600" b="1" dirty="0" err="1">
                <a:solidFill>
                  <a:srgbClr val="1E293B"/>
                </a:solidFill>
              </a:rPr>
              <a:t>NetDevOps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93776" y="1188720"/>
            <a:ext cx="8229600" cy="1463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14630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Infrastructure as Code (</a:t>
            </a:r>
            <a:r>
              <a:rPr lang="en-US" sz="2000" b="1" dirty="0" err="1">
                <a:solidFill>
                  <a:srgbClr val="1E293B"/>
                </a:solidFill>
              </a:rPr>
              <a:t>IaC</a:t>
            </a:r>
            <a:r>
              <a:rPr lang="en-US" sz="2000" b="1" dirty="0">
                <a:solidFill>
                  <a:srgbClr val="1E293B"/>
                </a:solidFill>
              </a:rPr>
              <a:t>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334155"/>
                </a:solidFill>
              </a:rPr>
              <a:t>Versionado</a:t>
            </a:r>
            <a:r>
              <a:rPr lang="en-US" sz="1300" b="1" dirty="0">
                <a:solidFill>
                  <a:srgbClr val="334155"/>
                </a:solidFill>
              </a:rPr>
              <a:t> con Git: </a:t>
            </a:r>
            <a:r>
              <a:rPr lang="en-US" sz="1300" dirty="0">
                <a:solidFill>
                  <a:srgbClr val="334155"/>
                </a:solidFill>
              </a:rPr>
              <a:t>Control de cambios, </a:t>
            </a:r>
            <a:r>
              <a:rPr lang="en-US" sz="1300" dirty="0" err="1">
                <a:solidFill>
                  <a:srgbClr val="334155"/>
                </a:solidFill>
              </a:rPr>
              <a:t>revisión</a:t>
            </a:r>
            <a:r>
              <a:rPr lang="en-US" sz="1300" dirty="0">
                <a:solidFill>
                  <a:srgbClr val="334155"/>
                </a:solidFill>
              </a:rPr>
              <a:t>, historial completo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Idempotencia: </a:t>
            </a:r>
            <a:r>
              <a:rPr lang="en-US" sz="1300" dirty="0" err="1">
                <a:solidFill>
                  <a:srgbClr val="334155"/>
                </a:solidFill>
              </a:rPr>
              <a:t>Múltiples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ejecuciones</a:t>
            </a:r>
            <a:r>
              <a:rPr lang="en-US" sz="1300" dirty="0">
                <a:solidFill>
                  <a:srgbClr val="334155"/>
                </a:solidFill>
              </a:rPr>
              <a:t> no </a:t>
            </a:r>
            <a:r>
              <a:rPr lang="en-US" sz="1300" dirty="0" err="1">
                <a:solidFill>
                  <a:srgbClr val="334155"/>
                </a:solidFill>
              </a:rPr>
              <a:t>cambian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el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estado</a:t>
            </a:r>
            <a:r>
              <a:rPr lang="en-US" sz="1300" dirty="0">
                <a:solidFill>
                  <a:srgbClr val="334155"/>
                </a:solidFill>
              </a:rPr>
              <a:t> del </a:t>
            </a:r>
            <a:r>
              <a:rPr lang="en-US" sz="1300" dirty="0" err="1">
                <a:solidFill>
                  <a:srgbClr val="334155"/>
                </a:solidFill>
              </a:rPr>
              <a:t>sistema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Backup: </a:t>
            </a:r>
            <a:r>
              <a:rPr lang="en-US" sz="1300" dirty="0">
                <a:solidFill>
                  <a:srgbClr val="334155"/>
                </a:solidFill>
              </a:rPr>
              <a:t>Copia de </a:t>
            </a:r>
            <a:r>
              <a:rPr lang="en-US" sz="1300" dirty="0" err="1">
                <a:solidFill>
                  <a:srgbClr val="334155"/>
                </a:solidFill>
              </a:rPr>
              <a:t>seguridad</a:t>
            </a:r>
            <a:r>
              <a:rPr lang="en-US" sz="1300" dirty="0">
                <a:solidFill>
                  <a:srgbClr val="334155"/>
                </a:solidFill>
              </a:rPr>
              <a:t> antes de </a:t>
            </a:r>
            <a:r>
              <a:rPr lang="en-US" sz="1300" dirty="0" err="1">
                <a:solidFill>
                  <a:srgbClr val="334155"/>
                </a:solidFill>
              </a:rPr>
              <a:t>aplicar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nuevos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cambios</a:t>
            </a:r>
            <a:endParaRPr lang="en-US" sz="1300" b="1" dirty="0">
              <a:solidFill>
                <a:srgbClr val="334155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</a:rPr>
              <a:t>Rollback: </a:t>
            </a:r>
            <a:r>
              <a:rPr lang="en-US" sz="1300" dirty="0">
                <a:solidFill>
                  <a:srgbClr val="334155"/>
                </a:solidFill>
              </a:rPr>
              <a:t>Reversión automática ante </a:t>
            </a:r>
            <a:r>
              <a:rPr lang="en-US" sz="1300" dirty="0" err="1">
                <a:solidFill>
                  <a:srgbClr val="334155"/>
                </a:solidFill>
              </a:rPr>
              <a:t>fallos</a:t>
            </a:r>
            <a:r>
              <a:rPr lang="en-US" sz="1300" dirty="0">
                <a:solidFill>
                  <a:srgbClr val="334155"/>
                </a:solidFill>
              </a:rPr>
              <a:t> al </a:t>
            </a:r>
            <a:r>
              <a:rPr lang="en-US" sz="1300" dirty="0" err="1">
                <a:solidFill>
                  <a:srgbClr val="334155"/>
                </a:solidFill>
              </a:rPr>
              <a:t>aplicar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nuevos</a:t>
            </a:r>
            <a:r>
              <a:rPr lang="en-US" sz="1300" dirty="0">
                <a:solidFill>
                  <a:srgbClr val="334155"/>
                </a:solidFill>
              </a:rPr>
              <a:t> </a:t>
            </a:r>
            <a:r>
              <a:rPr lang="en-US" sz="1300" dirty="0" err="1">
                <a:solidFill>
                  <a:srgbClr val="334155"/>
                </a:solidFill>
              </a:rPr>
              <a:t>cambios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19202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73152" cy="19202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NetDevOps: DevOps aplicado a Redes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</a:rPr>
              <a:t>Transformación del modelo tradicional de gestión de redes: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3703320"/>
            <a:ext cx="3200400" cy="91440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463040" y="3794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❌ Tradicional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334155"/>
                </a:solidFill>
              </a:rPr>
              <a:t>• Configuración manual CLI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334155"/>
                </a:solidFill>
              </a:rPr>
              <a:t>• Sin versionado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334155"/>
                </a:solidFill>
              </a:rPr>
              <a:t>• Cambios sin validar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334155"/>
                </a:solidFill>
              </a:rPr>
              <a:t>• Sin rollback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3703320"/>
            <a:ext cx="3200400" cy="9144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120640" y="3794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</a:rPr>
              <a:t>✓ NetDevOps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334155"/>
                </a:solidFill>
              </a:rPr>
              <a:t>• IaC con Ansible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334155"/>
                </a:solidFill>
              </a:rPr>
              <a:t>• Git para versionado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334155"/>
                </a:solidFill>
              </a:rPr>
              <a:t>• CI/CD con validación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334155"/>
                </a:solidFill>
              </a:rPr>
              <a:t>• Rollback automático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2. Ansible: Visión General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BA1B79FC-D157-4707-67D6-C95DED089D9A}"/>
              </a:ext>
            </a:extLst>
          </p:cNvPr>
          <p:cNvSpPr/>
          <p:nvPr/>
        </p:nvSpPr>
        <p:spPr>
          <a:xfrm>
            <a:off x="731520" y="1371600"/>
            <a:ext cx="1645920" cy="109728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9C9EAFD-2AED-7A6F-604E-51189FB6D284}"/>
              </a:ext>
            </a:extLst>
          </p:cNvPr>
          <p:cNvSpPr/>
          <p:nvPr/>
        </p:nvSpPr>
        <p:spPr>
          <a:xfrm>
            <a:off x="731520" y="1645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</a:rPr>
              <a:t>Nodo</a:t>
            </a:r>
            <a:r>
              <a:rPr lang="en-US" sz="1600" b="1" dirty="0">
                <a:solidFill>
                  <a:srgbClr val="FFFFFF"/>
                </a:solidFill>
              </a:rPr>
              <a:t> de Control</a:t>
            </a:r>
            <a:endParaRPr lang="en-US" sz="16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5A8A7F76-200D-92A1-FB12-1DB6FD9FE0CC}"/>
              </a:ext>
            </a:extLst>
          </p:cNvPr>
          <p:cNvSpPr/>
          <p:nvPr/>
        </p:nvSpPr>
        <p:spPr>
          <a:xfrm>
            <a:off x="2926080" y="1371600"/>
            <a:ext cx="1371600" cy="109728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75B34D59-2F66-0E3D-207C-E609304F7163}"/>
              </a:ext>
            </a:extLst>
          </p:cNvPr>
          <p:cNvSpPr/>
          <p:nvPr/>
        </p:nvSpPr>
        <p:spPr>
          <a:xfrm>
            <a:off x="2926080" y="1645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Playbooks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(YAML)</a:t>
            </a:r>
            <a:endParaRPr lang="en-US" sz="14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703BAA82-23D3-3776-94A0-49A40C15C8F6}"/>
              </a:ext>
            </a:extLst>
          </p:cNvPr>
          <p:cNvSpPr/>
          <p:nvPr/>
        </p:nvSpPr>
        <p:spPr>
          <a:xfrm>
            <a:off x="4754880" y="1371600"/>
            <a:ext cx="1371600" cy="1097280"/>
          </a:xfrm>
          <a:prstGeom prst="rect">
            <a:avLst/>
          </a:prstGeom>
          <a:solidFill>
            <a:srgbClr val="14B8A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B5D225A9-A14F-F67D-0546-5510D2EF8915}"/>
              </a:ext>
            </a:extLst>
          </p:cNvPr>
          <p:cNvSpPr/>
          <p:nvPr/>
        </p:nvSpPr>
        <p:spPr>
          <a:xfrm>
            <a:off x="4754880" y="1645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</a:rPr>
              <a:t>Modulos</a:t>
            </a:r>
            <a:r>
              <a:rPr lang="en-US" sz="1400" b="1" dirty="0">
                <a:solidFill>
                  <a:srgbClr val="FFFFFF"/>
                </a:solidFill>
              </a:rPr>
              <a:t> de Ansible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(Python)</a:t>
            </a:r>
            <a:endParaRPr lang="en-US" sz="14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BB79DF61-4D3B-7B1B-0EAC-E86E7CE26BE4}"/>
              </a:ext>
            </a:extLst>
          </p:cNvPr>
          <p:cNvSpPr/>
          <p:nvPr/>
        </p:nvSpPr>
        <p:spPr>
          <a:xfrm>
            <a:off x="6583679" y="1371600"/>
            <a:ext cx="2044337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2B7EA5BC-D67F-E5C8-1BBE-7BA3DDDEDC09}"/>
              </a:ext>
            </a:extLst>
          </p:cNvPr>
          <p:cNvSpPr/>
          <p:nvPr/>
        </p:nvSpPr>
        <p:spPr>
          <a:xfrm>
            <a:off x="6583680" y="1645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</a:rPr>
              <a:t>Dispositivos</a:t>
            </a:r>
            <a:r>
              <a:rPr lang="en-US" sz="1300" b="1" dirty="0">
                <a:solidFill>
                  <a:srgbClr val="FFFFFF"/>
                </a:solidFill>
              </a:rPr>
              <a:t> a </a:t>
            </a:r>
            <a:r>
              <a:rPr lang="en-US" sz="1300" b="1" dirty="0" err="1">
                <a:solidFill>
                  <a:srgbClr val="FFFFFF"/>
                </a:solidFill>
              </a:rPr>
              <a:t>gestionar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(Routers/Switches/VMs)</a:t>
            </a:r>
            <a:endParaRPr lang="en-US" sz="13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FFDB316E-5C3A-82E4-7EA3-A75559F4FFE2}"/>
              </a:ext>
            </a:extLst>
          </p:cNvPr>
          <p:cNvSpPr/>
          <p:nvPr/>
        </p:nvSpPr>
        <p:spPr>
          <a:xfrm>
            <a:off x="2468880" y="1783080"/>
            <a:ext cx="365760" cy="274320"/>
          </a:xfrm>
          <a:prstGeom prst="rightArrow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945F85C-002B-311A-088F-26047BE1C958}"/>
              </a:ext>
            </a:extLst>
          </p:cNvPr>
          <p:cNvSpPr/>
          <p:nvPr/>
        </p:nvSpPr>
        <p:spPr>
          <a:xfrm>
            <a:off x="4389120" y="1783080"/>
            <a:ext cx="274320" cy="274320"/>
          </a:xfrm>
          <a:prstGeom prst="rightArrow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0C742FF-9050-2E47-62A2-256FE7A5EF98}"/>
              </a:ext>
            </a:extLst>
          </p:cNvPr>
          <p:cNvSpPr/>
          <p:nvPr/>
        </p:nvSpPr>
        <p:spPr>
          <a:xfrm>
            <a:off x="6217920" y="1783080"/>
            <a:ext cx="274320" cy="274320"/>
          </a:xfrm>
          <a:prstGeom prst="rightArrow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C94AA5C2-2E00-9E1B-E20B-33F32DCEA122}"/>
              </a:ext>
            </a:extLst>
          </p:cNvPr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66BE5E45-C5ED-CBA2-F84A-AD490090EE44}"/>
              </a:ext>
            </a:extLst>
          </p:cNvPr>
          <p:cNvSpPr/>
          <p:nvPr/>
        </p:nvSpPr>
        <p:spPr>
          <a:xfrm>
            <a:off x="594360" y="2807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Componentes</a:t>
            </a:r>
            <a:endParaRPr lang="en-US" sz="18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40066DFD-535C-2FF3-7829-69239D96478E}"/>
              </a:ext>
            </a:extLst>
          </p:cNvPr>
          <p:cNvSpPr/>
          <p:nvPr/>
        </p:nvSpPr>
        <p:spPr>
          <a:xfrm>
            <a:off x="594360" y="3672622"/>
            <a:ext cx="3657600" cy="4637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 err="1">
                <a:solidFill>
                  <a:srgbClr val="334155"/>
                </a:solidFill>
              </a:rPr>
              <a:t>Nodo</a:t>
            </a:r>
            <a:r>
              <a:rPr lang="en-US" sz="800" b="1" dirty="0">
                <a:solidFill>
                  <a:srgbClr val="334155"/>
                </a:solidFill>
              </a:rPr>
              <a:t> de control: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Máquina donde se ejecuta ansible-playbook. Requiere Python y Ansible instalado.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Playbooks: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Archivos YAML que definen tareas y configuraciones a aplicar.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b="1" dirty="0" err="1">
                <a:solidFill>
                  <a:srgbClr val="334155"/>
                </a:solidFill>
              </a:rPr>
              <a:t>Modulos</a:t>
            </a:r>
            <a:r>
              <a:rPr lang="en-US" sz="800" b="1" dirty="0">
                <a:solidFill>
                  <a:srgbClr val="334155"/>
                </a:solidFill>
              </a:rPr>
              <a:t> de ansible: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Scripts Python que ejecutan </a:t>
            </a:r>
            <a:r>
              <a:rPr lang="en-US" sz="800" dirty="0" err="1">
                <a:solidFill>
                  <a:srgbClr val="334155"/>
                </a:solidFill>
              </a:rPr>
              <a:t>acciones</a:t>
            </a:r>
            <a:r>
              <a:rPr lang="en-US" sz="800" dirty="0">
                <a:solidFill>
                  <a:srgbClr val="334155"/>
                </a:solidFill>
              </a:rPr>
              <a:t> </a:t>
            </a:r>
            <a:r>
              <a:rPr lang="en-US" sz="800" dirty="0" err="1">
                <a:solidFill>
                  <a:srgbClr val="334155"/>
                </a:solidFill>
              </a:rPr>
              <a:t>específicas</a:t>
            </a:r>
            <a:r>
              <a:rPr lang="en-US" sz="800" dirty="0">
                <a:solidFill>
                  <a:srgbClr val="334155"/>
                </a:solidFill>
              </a:rPr>
              <a:t>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b="1" dirty="0" err="1">
                <a:solidFill>
                  <a:srgbClr val="334155"/>
                </a:solidFill>
              </a:rPr>
              <a:t>Dispositivos</a:t>
            </a:r>
            <a:r>
              <a:rPr lang="en-US" sz="800" b="1" dirty="0">
                <a:solidFill>
                  <a:srgbClr val="334155"/>
                </a:solidFill>
              </a:rPr>
              <a:t> a </a:t>
            </a:r>
            <a:r>
              <a:rPr lang="en-US" sz="800" b="1" dirty="0" err="1">
                <a:solidFill>
                  <a:srgbClr val="334155"/>
                </a:solidFill>
              </a:rPr>
              <a:t>gestionar</a:t>
            </a:r>
            <a:r>
              <a:rPr lang="en-US" sz="800" b="1" dirty="0">
                <a:solidFill>
                  <a:srgbClr val="334155"/>
                </a:solidFill>
              </a:rPr>
              <a:t>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Dispositivos de red sin agente. Conexión vía SSH, NETCONF o API.</a:t>
            </a:r>
            <a:endParaRPr lang="en-US" sz="8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B6C7641A-00C3-8A21-7615-A69636CA549E}"/>
              </a:ext>
            </a:extLst>
          </p:cNvPr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67BB1392-9CAA-9E24-0902-CC89AE45165E}"/>
              </a:ext>
            </a:extLst>
          </p:cNvPr>
          <p:cNvSpPr/>
          <p:nvPr/>
        </p:nvSpPr>
        <p:spPr>
          <a:xfrm>
            <a:off x="4892040" y="2841171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Protocolos de Conexión</a:t>
            </a:r>
            <a:endParaRPr lang="en-US" sz="1800" dirty="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BF0CBA01-CB81-4B81-6E82-1748ED8C8C93}"/>
              </a:ext>
            </a:extLst>
          </p:cNvPr>
          <p:cNvSpPr/>
          <p:nvPr/>
        </p:nvSpPr>
        <p:spPr>
          <a:xfrm>
            <a:off x="4892040" y="32004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SSH (network_cli):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Conexión tradicional CLI. Usado en Cisco IOS, NXOS, Arista EOS.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NETCONF (netconf):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XML sobre SSH. Estándar IETF. Juniper JunOS, Cisco IOS-XE.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HTTP API (httpapi):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REST API. Arista eAPI, Cisco NX-API, F5 iControl.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</a:rPr>
              <a:t>Local (local):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Ejecución local en el control node para tareas auxiliares.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E293B"/>
                </a:solidFill>
              </a:rPr>
              <a:t>Ventajas</a:t>
            </a:r>
            <a:r>
              <a:rPr lang="en-US" sz="3600" b="1" dirty="0">
                <a:solidFill>
                  <a:srgbClr val="1E293B"/>
                </a:solidFill>
              </a:rPr>
              <a:t> de Ansible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8229600" cy="1773936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457200" y="1106424"/>
            <a:ext cx="73152" cy="177393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30352" y="10633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Ventajas Clave de Ansible para Redes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0352" y="154794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Agentless: </a:t>
            </a:r>
            <a:r>
              <a:rPr lang="en-US" sz="1200" dirty="0">
                <a:solidFill>
                  <a:srgbClr val="334155"/>
                </a:solidFill>
              </a:rPr>
              <a:t>No requiere instalación en dispositivos de red, </a:t>
            </a:r>
            <a:r>
              <a:rPr lang="en-US" sz="1200" dirty="0" err="1">
                <a:solidFill>
                  <a:srgbClr val="334155"/>
                </a:solidFill>
              </a:rPr>
              <a:t>únicamente</a:t>
            </a:r>
            <a:r>
              <a:rPr lang="en-US" sz="1200" dirty="0">
                <a:solidFill>
                  <a:srgbClr val="334155"/>
                </a:solidFill>
              </a:rPr>
              <a:t> </a:t>
            </a:r>
            <a:r>
              <a:rPr lang="en-US" sz="1200" dirty="0" err="1">
                <a:solidFill>
                  <a:srgbClr val="334155"/>
                </a:solidFill>
              </a:rPr>
              <a:t>requieren</a:t>
            </a:r>
            <a:r>
              <a:rPr lang="en-US" sz="1200" dirty="0">
                <a:solidFill>
                  <a:srgbClr val="334155"/>
                </a:solidFill>
              </a:rPr>
              <a:t> </a:t>
            </a:r>
            <a:r>
              <a:rPr lang="en-US" sz="1200" dirty="0" err="1">
                <a:solidFill>
                  <a:srgbClr val="334155"/>
                </a:solidFill>
              </a:rPr>
              <a:t>conectividad</a:t>
            </a:r>
            <a:r>
              <a:rPr lang="en-US" sz="1200" dirty="0">
                <a:solidFill>
                  <a:srgbClr val="334155"/>
                </a:solidFill>
              </a:rPr>
              <a:t> SSH con </a:t>
            </a:r>
            <a:r>
              <a:rPr lang="en-US" sz="1200" dirty="0" err="1">
                <a:solidFill>
                  <a:srgbClr val="334155"/>
                </a:solidFill>
              </a:rPr>
              <a:t>el</a:t>
            </a:r>
            <a:r>
              <a:rPr lang="en-US" sz="1200" dirty="0">
                <a:solidFill>
                  <a:srgbClr val="334155"/>
                </a:solidFill>
              </a:rPr>
              <a:t> </a:t>
            </a:r>
            <a:r>
              <a:rPr lang="en-US" sz="1200" dirty="0" err="1">
                <a:solidFill>
                  <a:srgbClr val="334155"/>
                </a:solidFill>
              </a:rPr>
              <a:t>nodo</a:t>
            </a:r>
            <a:r>
              <a:rPr lang="en-US" sz="1200" dirty="0">
                <a:solidFill>
                  <a:srgbClr val="334155"/>
                </a:solidFill>
              </a:rPr>
              <a:t> de control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YAML legible: </a:t>
            </a:r>
            <a:r>
              <a:rPr lang="en-US" sz="1200" dirty="0">
                <a:solidFill>
                  <a:srgbClr val="334155"/>
                </a:solidFill>
              </a:rPr>
              <a:t>Fácil de leer, escribir y mantener sin programación compleja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Módulos específicos: </a:t>
            </a:r>
            <a:r>
              <a:rPr lang="en-US" sz="1200" dirty="0">
                <a:solidFill>
                  <a:srgbClr val="334155"/>
                </a:solidFill>
              </a:rPr>
              <a:t>Soporte nativo para </a:t>
            </a:r>
            <a:r>
              <a:rPr lang="en-US" sz="1200" dirty="0" err="1">
                <a:solidFill>
                  <a:srgbClr val="334155"/>
                </a:solidFill>
              </a:rPr>
              <a:t>diferentes</a:t>
            </a:r>
            <a:r>
              <a:rPr lang="en-US" sz="1200" dirty="0">
                <a:solidFill>
                  <a:srgbClr val="334155"/>
                </a:solidFill>
              </a:rPr>
              <a:t> </a:t>
            </a:r>
            <a:r>
              <a:rPr lang="en-US" sz="1200" dirty="0" err="1">
                <a:solidFill>
                  <a:srgbClr val="334155"/>
                </a:solidFill>
              </a:rPr>
              <a:t>fabricantes</a:t>
            </a:r>
            <a:r>
              <a:rPr lang="en-US" sz="1200" dirty="0">
                <a:solidFill>
                  <a:srgbClr val="334155"/>
                </a:solidFill>
              </a:rPr>
              <a:t>: Cisco, Juniper, Arista, F5, etc.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7861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D3452-5FD4-2EA8-F452-FCDAC4156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B5B4521-8A0D-1D44-47DC-0174F59C6E5F}"/>
              </a:ext>
            </a:extLst>
          </p:cNvPr>
          <p:cNvSpPr/>
          <p:nvPr/>
        </p:nvSpPr>
        <p:spPr>
          <a:xfrm>
            <a:off x="457200" y="274320"/>
            <a:ext cx="8229600" cy="42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1E293B"/>
                </a:solidFill>
              </a:rPr>
              <a:t>Jinja2: Librería para gestión de “</a:t>
            </a:r>
            <a:r>
              <a:rPr lang="es-ES" sz="3200" b="1" dirty="0" err="1">
                <a:solidFill>
                  <a:srgbClr val="1E293B"/>
                </a:solidFill>
              </a:rPr>
              <a:t>Templates</a:t>
            </a:r>
            <a:r>
              <a:rPr lang="es-ES" sz="3200" b="1" dirty="0">
                <a:solidFill>
                  <a:srgbClr val="1E293B"/>
                </a:solidFill>
              </a:rPr>
              <a:t>”</a:t>
            </a:r>
            <a:endParaRPr lang="es-ES" sz="3200" dirty="0"/>
          </a:p>
        </p:txBody>
      </p:sp>
      <p:sp>
        <p:nvSpPr>
          <p:cNvPr id="3" name="TealBar">
            <a:extLst>
              <a:ext uri="{FF2B5EF4-FFF2-40B4-BE49-F238E27FC236}">
                <a16:creationId xmlns:a16="http://schemas.microsoft.com/office/drawing/2014/main" id="{72050EB3-22EA-04FF-E13C-F2786F8E0D03}"/>
              </a:ext>
            </a:extLst>
          </p:cNvPr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DarkBox">
            <a:extLst>
              <a:ext uri="{FF2B5EF4-FFF2-40B4-BE49-F238E27FC236}">
                <a16:creationId xmlns:a16="http://schemas.microsoft.com/office/drawing/2014/main" id="{B72603EF-3426-902F-070C-17D2F25AB1DC}"/>
              </a:ext>
            </a:extLst>
          </p:cNvPr>
          <p:cNvSpPr/>
          <p:nvPr/>
        </p:nvSpPr>
        <p:spPr>
          <a:xfrm>
            <a:off x="457200" y="1051560"/>
            <a:ext cx="4114800" cy="338850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CodeLabel">
            <a:extLst>
              <a:ext uri="{FF2B5EF4-FFF2-40B4-BE49-F238E27FC236}">
                <a16:creationId xmlns:a16="http://schemas.microsoft.com/office/drawing/2014/main" id="{BBBC4886-D45C-3AA6-2561-1D497042C9EF}"/>
              </a:ext>
            </a:extLst>
          </p:cNvPr>
          <p:cNvSpPr/>
          <p:nvPr/>
        </p:nvSpPr>
        <p:spPr>
          <a:xfrm>
            <a:off x="59436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4B8A6"/>
                </a:solidFill>
              </a:rPr>
              <a:t>Condicionales y bucles</a:t>
            </a:r>
            <a:endParaRPr lang="es-ES" sz="1400" dirty="0"/>
          </a:p>
        </p:txBody>
      </p:sp>
      <p:sp>
        <p:nvSpPr>
          <p:cNvPr id="22" name="CodeText">
            <a:extLst>
              <a:ext uri="{FF2B5EF4-FFF2-40B4-BE49-F238E27FC236}">
                <a16:creationId xmlns:a16="http://schemas.microsoft.com/office/drawing/2014/main" id="{805EDADA-8CB3-C0AF-3F31-875E35295720}"/>
              </a:ext>
            </a:extLst>
          </p:cNvPr>
          <p:cNvSpPr/>
          <p:nvPr/>
        </p:nvSpPr>
        <p:spPr>
          <a:xfrm>
            <a:off x="594360" y="1410789"/>
            <a:ext cx="3840480" cy="269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if/elif/else</a:t>
            </a:r>
            <a:endParaRPr lang="en-US" sz="920" dirty="0"/>
          </a:p>
          <a:p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{% if </a:t>
            </a:r>
            <a:r>
              <a:rPr lang="en-US" sz="92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usuario.rol</a:t>
            </a:r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'admin' %}  </a:t>
            </a:r>
          </a:p>
          <a:p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&lt;button&gt;Panel de Administración&lt;/button&gt;</a:t>
            </a:r>
          </a:p>
          <a:p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{% </a:t>
            </a:r>
            <a:r>
              <a:rPr lang="en-US" sz="92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2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usuario.rol</a:t>
            </a:r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'editor' %}  </a:t>
            </a:r>
          </a:p>
          <a:p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&lt;button&gt;</a:t>
            </a:r>
            <a:r>
              <a:rPr lang="en-US" sz="92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Editar</a:t>
            </a:r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2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Contenido</a:t>
            </a:r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&lt;/button&gt;</a:t>
            </a:r>
          </a:p>
          <a:p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{% else %}  </a:t>
            </a:r>
          </a:p>
          <a:p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&lt;p&gt;</a:t>
            </a:r>
            <a:r>
              <a:rPr lang="en-US" sz="92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Acceso</a:t>
            </a:r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92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restringido</a:t>
            </a:r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&lt;/p&gt;</a:t>
            </a:r>
          </a:p>
          <a:p>
            <a:r>
              <a:rPr lang="en-US" sz="92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{% endif %}</a:t>
            </a:r>
          </a:p>
          <a:p>
            <a:pPr marL="0" indent="0">
              <a:buNone/>
            </a:pPr>
            <a:endParaRPr lang="en-US" sz="920" dirty="0"/>
          </a:p>
          <a:p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</a:t>
            </a:r>
            <a:r>
              <a:rPr lang="en-US" sz="920" dirty="0" err="1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Bucle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</a:t>
            </a:r>
            <a:r>
              <a:rPr lang="en-US" sz="920" dirty="0" err="1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sobre</a:t>
            </a: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lista de </a:t>
            </a:r>
            <a:r>
              <a:rPr lang="en-US" sz="920" dirty="0" err="1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920" dirty="0">
              <a:solidFill>
                <a:srgbClr val="6A995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endParaRPr lang="en-US" sz="920" dirty="0">
              <a:solidFill>
                <a:srgbClr val="6A9955"/>
              </a:solidFill>
              <a:latin typeface="Courier New" pitchFamily="34" charset="0"/>
              <a:cs typeface="Courier New" pitchFamily="34" charset="-120"/>
            </a:endParaRPr>
          </a:p>
          <a:p>
            <a:r>
              <a:rPr lang="es-E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{% </a:t>
            </a:r>
            <a:r>
              <a:rPr lang="es-ES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usuario in usuarios %}</a:t>
            </a:r>
          </a:p>
          <a:p>
            <a:r>
              <a:rPr lang="es-E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{{ </a:t>
            </a:r>
            <a:r>
              <a:rPr lang="es-ES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usuario.nombre</a:t>
            </a:r>
            <a:r>
              <a:rPr lang="es-E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}} - {{ </a:t>
            </a:r>
            <a:r>
              <a:rPr lang="es-ES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usuario.rol</a:t>
            </a:r>
            <a:r>
              <a:rPr lang="es-E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}}</a:t>
            </a:r>
          </a:p>
          <a:p>
            <a:r>
              <a:rPr lang="es-E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{% </a:t>
            </a:r>
            <a:r>
              <a:rPr lang="es-ES" sz="9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endfor</a:t>
            </a:r>
            <a:r>
              <a:rPr lang="es-E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%}</a:t>
            </a:r>
          </a:p>
          <a:p>
            <a:pPr marL="0" indent="0">
              <a:buNone/>
            </a:pPr>
            <a:endParaRPr lang="en-US" sz="92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ACD87B-F0F7-88D1-CAF3-A957D57375D6}"/>
              </a:ext>
            </a:extLst>
          </p:cNvPr>
          <p:cNvSpPr txBox="1"/>
          <p:nvPr/>
        </p:nvSpPr>
        <p:spPr>
          <a:xfrm>
            <a:off x="4833258" y="106135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https://pypi.org/project/Jinja2/</a:t>
            </a:r>
          </a:p>
        </p:txBody>
      </p:sp>
    </p:spTree>
    <p:extLst>
      <p:ext uri="{BB962C8B-B14F-4D97-AF65-F5344CB8AC3E}">
        <p14:creationId xmlns:p14="http://schemas.microsoft.com/office/powerpoint/2010/main" val="2124957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1E293B"/>
                </a:solidFill>
              </a:rPr>
              <a:t>Qué es un Ansible Playbook</a:t>
            </a:r>
            <a:endParaRPr lang="es-ES" sz="3200" dirty="0"/>
          </a:p>
        </p:txBody>
      </p:sp>
      <p:sp>
        <p:nvSpPr>
          <p:cNvPr id="3" name="TealBar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DarkBox"/>
          <p:cNvSpPr/>
          <p:nvPr/>
        </p:nvSpPr>
        <p:spPr>
          <a:xfrm>
            <a:off x="457200" y="1051560"/>
            <a:ext cx="4114800" cy="3749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CodeLabel"/>
          <p:cNvSpPr/>
          <p:nvPr/>
        </p:nvSpPr>
        <p:spPr>
          <a:xfrm>
            <a:off x="59436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4B8A6"/>
                </a:solidFill>
              </a:rPr>
              <a:t>playbooks/configurar_router.yml</a:t>
            </a:r>
            <a:endParaRPr lang="es-ES" sz="1400" dirty="0"/>
          </a:p>
        </p:txBody>
      </p:sp>
      <p:sp>
        <p:nvSpPr>
          <p:cNvPr id="12" name="CodeText"/>
          <p:cNvSpPr/>
          <p:nvPr/>
        </p:nvSpPr>
        <p:spPr>
          <a:xfrm>
            <a:off x="594360" y="1358536"/>
            <a:ext cx="2978331" cy="22272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Configurar routers Cisco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cisco_routers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gather_facts: no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ntp_server: "192.168.100.100"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banner_text: Acceso restringido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pre_tasks: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Backup configuracion actual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cisco.ios.ios_config: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backup: yes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Configurar NTP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cisco.ios.ios_config: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lines: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 "ntp server {{ ntp_server }}"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tags: ntp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Configurar banner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cisco.ios.ios_banner: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banner: motd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text: "{{ banner_text }}"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present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notify: guardar configuracion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handlers: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guardar configuracion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cisco.ios.ios_config: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save_when: always</a:t>
            </a:r>
            <a:endParaRPr lang="en-US" sz="920" dirty="0"/>
          </a:p>
        </p:txBody>
      </p:sp>
      <p:sp>
        <p:nvSpPr>
          <p:cNvPr id="20" name="LightBox"/>
          <p:cNvSpPr/>
          <p:nvPr/>
        </p:nvSpPr>
        <p:spPr>
          <a:xfrm>
            <a:off x="4663200" y="1051560"/>
            <a:ext cx="4023360" cy="20120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ecHdr"/>
          <p:cNvSpPr/>
          <p:nvPr/>
        </p:nvSpPr>
        <p:spPr>
          <a:xfrm>
            <a:off x="480036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b="1" dirty="0">
                <a:solidFill>
                  <a:srgbClr val="1E293B"/>
                </a:solidFill>
              </a:rPr>
              <a:t>Anatomía de un Playbook</a:t>
            </a:r>
            <a:endParaRPr lang="es-ES" sz="1500" dirty="0"/>
          </a:p>
        </p:txBody>
      </p:sp>
      <p:sp>
        <p:nvSpPr>
          <p:cNvPr id="22" name="BulletText"/>
          <p:cNvSpPr/>
          <p:nvPr/>
        </p:nvSpPr>
        <p:spPr>
          <a:xfrm>
            <a:off x="4800360" y="1417320"/>
            <a:ext cx="3749040" cy="164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hosts:</a:t>
            </a:r>
            <a:r>
              <a:rPr lang="es-ES" sz="1150" dirty="0">
                <a:solidFill>
                  <a:srgbClr val="334155"/>
                </a:solidFill>
              </a:rPr>
              <a:t> a qué inventario aplica (grupo o host)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gather_facts:</a:t>
            </a:r>
            <a:r>
              <a:rPr lang="es-ES" sz="1150" dirty="0">
                <a:solidFill>
                  <a:srgbClr val="334155"/>
                </a:solidFill>
              </a:rPr>
              <a:t> recopilar info del nodo (no en redes)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vars:</a:t>
            </a:r>
            <a:r>
              <a:rPr lang="es-ES" sz="1150" dirty="0">
                <a:solidFill>
                  <a:srgbClr val="334155"/>
                </a:solidFill>
              </a:rPr>
              <a:t> variables locales del </a:t>
            </a:r>
            <a:r>
              <a:rPr lang="es-ES" sz="1150" dirty="0" err="1">
                <a:solidFill>
                  <a:srgbClr val="334155"/>
                </a:solidFill>
              </a:rPr>
              <a:t>playbook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pre_tasks:</a:t>
            </a:r>
            <a:r>
              <a:rPr lang="es-ES" sz="1150" dirty="0">
                <a:solidFill>
                  <a:srgbClr val="334155"/>
                </a:solidFill>
              </a:rPr>
              <a:t> tareas que se ejecutan antes del bloque principal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tasks:</a:t>
            </a:r>
            <a:r>
              <a:rPr lang="es-ES" sz="1150" dirty="0">
                <a:solidFill>
                  <a:srgbClr val="334155"/>
                </a:solidFill>
              </a:rPr>
              <a:t> lista secuencial de tareas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handlers:</a:t>
            </a:r>
            <a:r>
              <a:rPr lang="es-ES" sz="1150" dirty="0">
                <a:solidFill>
                  <a:srgbClr val="334155"/>
                </a:solidFill>
              </a:rPr>
              <a:t> tareas que se disparan si algo cambió</a:t>
            </a:r>
            <a:endParaRPr lang="es-ES" sz="1150" dirty="0"/>
          </a:p>
        </p:txBody>
      </p:sp>
      <p:sp>
        <p:nvSpPr>
          <p:cNvPr id="30" name="LightBox"/>
          <p:cNvSpPr/>
          <p:nvPr/>
        </p:nvSpPr>
        <p:spPr>
          <a:xfrm>
            <a:off x="4663200" y="3127248"/>
            <a:ext cx="4023360" cy="185659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ecHdr"/>
          <p:cNvSpPr/>
          <p:nvPr/>
        </p:nvSpPr>
        <p:spPr>
          <a:xfrm>
            <a:off x="4800360" y="3109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b="1" dirty="0">
                <a:solidFill>
                  <a:srgbClr val="1D4ED8"/>
                </a:solidFill>
              </a:rPr>
              <a:t>Keywords de una “</a:t>
            </a:r>
            <a:r>
              <a:rPr lang="es-ES" sz="1500" b="1" dirty="0" err="1">
                <a:solidFill>
                  <a:srgbClr val="1D4ED8"/>
                </a:solidFill>
              </a:rPr>
              <a:t>Task</a:t>
            </a:r>
            <a:r>
              <a:rPr lang="es-ES" sz="1500" b="1" dirty="0">
                <a:solidFill>
                  <a:srgbClr val="1D4ED8"/>
                </a:solidFill>
              </a:rPr>
              <a:t>”</a:t>
            </a:r>
            <a:endParaRPr lang="es-ES" sz="1500" dirty="0"/>
          </a:p>
        </p:txBody>
      </p:sp>
      <p:sp>
        <p:nvSpPr>
          <p:cNvPr id="32" name="BulletText"/>
          <p:cNvSpPr/>
          <p:nvPr/>
        </p:nvSpPr>
        <p:spPr>
          <a:xfrm>
            <a:off x="4800360" y="3429360"/>
            <a:ext cx="3749040" cy="1439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name:</a:t>
            </a:r>
            <a:r>
              <a:rPr lang="es-ES" sz="1150" dirty="0">
                <a:solidFill>
                  <a:srgbClr val="334155"/>
                </a:solidFill>
              </a:rPr>
              <a:t> descripción legible (obligatorio)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módulo: args</a:t>
            </a:r>
            <a:r>
              <a:rPr lang="es-ES" sz="1150" dirty="0">
                <a:solidFill>
                  <a:srgbClr val="334155"/>
                </a:solidFill>
              </a:rPr>
              <a:t> — la acción a ejecutar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loop:</a:t>
            </a:r>
            <a:r>
              <a:rPr lang="es-ES" sz="1150" dirty="0">
                <a:solidFill>
                  <a:srgbClr val="334155"/>
                </a:solidFill>
              </a:rPr>
              <a:t> iterar sobre lista de items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when:</a:t>
            </a:r>
            <a:r>
              <a:rPr lang="es-ES" sz="1150" dirty="0">
                <a:solidFill>
                  <a:srgbClr val="334155"/>
                </a:solidFill>
              </a:rPr>
              <a:t> condición para ejecutar (usa jinja2)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register:</a:t>
            </a:r>
            <a:r>
              <a:rPr lang="es-ES" sz="1150" dirty="0">
                <a:solidFill>
                  <a:srgbClr val="334155"/>
                </a:solidFill>
              </a:rPr>
              <a:t> guardar resultado en variable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notify:</a:t>
            </a:r>
            <a:r>
              <a:rPr lang="es-ES" sz="1150" dirty="0">
                <a:solidFill>
                  <a:srgbClr val="334155"/>
                </a:solidFill>
              </a:rPr>
              <a:t> disparar handler si changed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tags:</a:t>
            </a:r>
            <a:r>
              <a:rPr lang="es-ES" sz="1150" dirty="0">
                <a:solidFill>
                  <a:srgbClr val="334155"/>
                </a:solidFill>
              </a:rPr>
              <a:t> filtrar ejecución (--tags ntp)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ignore_errors:</a:t>
            </a:r>
            <a:r>
              <a:rPr lang="es-ES" sz="1150" dirty="0">
                <a:solidFill>
                  <a:srgbClr val="334155"/>
                </a:solidFill>
              </a:rPr>
              <a:t> continuar si falla</a:t>
            </a:r>
            <a:endParaRPr lang="es-E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1E293B"/>
                </a:solidFill>
              </a:rPr>
              <a:t>Variables y Facts en Ansible</a:t>
            </a:r>
            <a:endParaRPr lang="es-ES" sz="3200" dirty="0"/>
          </a:p>
        </p:txBody>
      </p:sp>
      <p:sp>
        <p:nvSpPr>
          <p:cNvPr id="3" name="TealBar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LightBox"/>
          <p:cNvSpPr/>
          <p:nvPr/>
        </p:nvSpPr>
        <p:spPr>
          <a:xfrm>
            <a:off x="457200" y="1051560"/>
            <a:ext cx="4114800" cy="1737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ecHdr"/>
          <p:cNvSpPr/>
          <p:nvPr/>
        </p:nvSpPr>
        <p:spPr>
          <a:xfrm>
            <a:off x="59436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b="1" dirty="0">
                <a:solidFill>
                  <a:srgbClr val="1E293B"/>
                </a:solidFill>
              </a:rPr>
              <a:t>Precedencia (menor → mayor)</a:t>
            </a:r>
            <a:endParaRPr lang="es-ES" sz="1500" dirty="0"/>
          </a:p>
        </p:txBody>
      </p:sp>
      <p:sp>
        <p:nvSpPr>
          <p:cNvPr id="12" name="BulletText"/>
          <p:cNvSpPr/>
          <p:nvPr/>
        </p:nvSpPr>
        <p:spPr>
          <a:xfrm>
            <a:off x="594360" y="14173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1. defaults/</a:t>
            </a:r>
            <a:r>
              <a:rPr lang="es-ES" sz="1150" b="1" dirty="0" err="1">
                <a:solidFill>
                  <a:srgbClr val="334155"/>
                </a:solidFill>
              </a:rPr>
              <a:t>main.yml</a:t>
            </a:r>
            <a:r>
              <a:rPr lang="es-ES" sz="1150" dirty="0">
                <a:solidFill>
                  <a:srgbClr val="334155"/>
                </a:solidFill>
              </a:rPr>
              <a:t> (valor por defecto)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2. group_vars/all.yml</a:t>
            </a:r>
            <a:r>
              <a:rPr lang="es-ES" sz="1150" dirty="0">
                <a:solidFill>
                  <a:srgbClr val="334155"/>
                </a:solidFill>
              </a:rPr>
              <a:t> (variables comunes a todos)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3. group_vars/cisco_routers.yml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4. host_vars/R1-CISCO.yml</a:t>
            </a:r>
            <a:r>
              <a:rPr lang="es-ES" sz="1150" dirty="0">
                <a:solidFill>
                  <a:srgbClr val="334155"/>
                </a:solidFill>
              </a:rPr>
              <a:t> (específicas por host)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5. </a:t>
            </a:r>
            <a:r>
              <a:rPr lang="es-ES" sz="1150" b="1" dirty="0" err="1">
                <a:solidFill>
                  <a:srgbClr val="334155"/>
                </a:solidFill>
              </a:rPr>
              <a:t>Vars</a:t>
            </a:r>
            <a:r>
              <a:rPr lang="es-ES" sz="1150" b="1" dirty="0">
                <a:solidFill>
                  <a:srgbClr val="334155"/>
                </a:solidFill>
              </a:rPr>
              <a:t> </a:t>
            </a:r>
            <a:r>
              <a:rPr lang="es-ES" sz="1150" dirty="0">
                <a:solidFill>
                  <a:srgbClr val="334155"/>
                </a:solidFill>
              </a:rPr>
              <a:t>(explicitas en el </a:t>
            </a:r>
            <a:r>
              <a:rPr lang="es-ES" sz="1150" dirty="0" err="1">
                <a:solidFill>
                  <a:srgbClr val="334155"/>
                </a:solidFill>
              </a:rPr>
              <a:t>playbook</a:t>
            </a:r>
            <a:r>
              <a:rPr lang="es-ES" sz="1150" dirty="0">
                <a:solidFill>
                  <a:srgbClr val="334155"/>
                </a:solidFill>
              </a:rPr>
              <a:t>)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6. extra vars -e</a:t>
            </a:r>
            <a:r>
              <a:rPr lang="es-ES" sz="1150" dirty="0">
                <a:solidFill>
                  <a:srgbClr val="334155"/>
                </a:solidFill>
              </a:rPr>
              <a:t> (siempre ganan — para CI/CD)</a:t>
            </a:r>
            <a:endParaRPr lang="es-ES" sz="1150" dirty="0"/>
          </a:p>
        </p:txBody>
      </p:sp>
      <p:sp>
        <p:nvSpPr>
          <p:cNvPr id="13" name="LightBox"/>
          <p:cNvSpPr/>
          <p:nvPr/>
        </p:nvSpPr>
        <p:spPr>
          <a:xfrm>
            <a:off x="457200" y="2880720"/>
            <a:ext cx="4114800" cy="192024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ecHdr"/>
          <p:cNvSpPr/>
          <p:nvPr/>
        </p:nvSpPr>
        <p:spPr>
          <a:xfrm>
            <a:off x="594360" y="2926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b="1" dirty="0">
                <a:solidFill>
                  <a:srgbClr val="1D4ED8"/>
                </a:solidFill>
              </a:rPr>
              <a:t>Tipos de variables</a:t>
            </a:r>
            <a:endParaRPr lang="es-ES" sz="1500" dirty="0"/>
          </a:p>
        </p:txBody>
      </p:sp>
      <p:sp>
        <p:nvSpPr>
          <p:cNvPr id="15" name="BulletText"/>
          <p:cNvSpPr/>
          <p:nvPr/>
        </p:nvSpPr>
        <p:spPr>
          <a:xfrm>
            <a:off x="594360" y="324648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Inventario:</a:t>
            </a:r>
            <a:r>
              <a:rPr lang="es-ES" sz="1150" dirty="0">
                <a:solidFill>
                  <a:srgbClr val="334155"/>
                </a:solidFill>
              </a:rPr>
              <a:t> hosts.yml, group_vars/, host_vars/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Play/rol:</a:t>
            </a:r>
            <a:r>
              <a:rPr lang="es-ES" sz="1150" dirty="0">
                <a:solidFill>
                  <a:srgbClr val="334155"/>
                </a:solidFill>
              </a:rPr>
              <a:t> vars:, defaults/main.yml, vars/main.yml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Registradas:</a:t>
            </a:r>
            <a:r>
              <a:rPr lang="es-ES" sz="1150" dirty="0">
                <a:solidFill>
                  <a:srgbClr val="334155"/>
                </a:solidFill>
              </a:rPr>
              <a:t> register: result → result.stdout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Facts:</a:t>
            </a:r>
            <a:r>
              <a:rPr lang="es-ES" sz="1150" dirty="0">
                <a:solidFill>
                  <a:srgbClr val="334155"/>
                </a:solidFill>
              </a:rPr>
              <a:t> datos del nodo → gather_facts: yes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Magic vars:</a:t>
            </a:r>
            <a:r>
              <a:rPr lang="es-ES" sz="1150" dirty="0">
                <a:solidFill>
                  <a:srgbClr val="334155"/>
                </a:solidFill>
              </a:rPr>
              <a:t> hostvars, groups, inventory_hostname</a:t>
            </a: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Extra vars:</a:t>
            </a:r>
            <a:r>
              <a:rPr lang="es-ES" sz="1150" dirty="0">
                <a:solidFill>
                  <a:srgbClr val="334155"/>
                </a:solidFill>
              </a:rPr>
              <a:t> ansible-playbook -e 'env=prod'</a:t>
            </a:r>
            <a:endParaRPr lang="es-ES" sz="1150" dirty="0"/>
          </a:p>
        </p:txBody>
      </p:sp>
      <p:sp>
        <p:nvSpPr>
          <p:cNvPr id="20" name="DarkBox"/>
          <p:cNvSpPr/>
          <p:nvPr/>
        </p:nvSpPr>
        <p:spPr>
          <a:xfrm>
            <a:off x="4663200" y="1051560"/>
            <a:ext cx="402336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CodeLabel"/>
          <p:cNvSpPr/>
          <p:nvPr/>
        </p:nvSpPr>
        <p:spPr>
          <a:xfrm>
            <a:off x="480036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4B8A6"/>
                </a:solidFill>
              </a:rPr>
              <a:t>Recopilar Facts de red</a:t>
            </a:r>
            <a:endParaRPr lang="es-ES" sz="1400" dirty="0"/>
          </a:p>
        </p:txBody>
      </p:sp>
      <p:sp>
        <p:nvSpPr>
          <p:cNvPr id="22" name="CodeText"/>
          <p:cNvSpPr/>
          <p:nvPr/>
        </p:nvSpPr>
        <p:spPr>
          <a:xfrm>
            <a:off x="4800360" y="14173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Obtener facts del dispositivo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cisco.ios.ios_facts: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gather_subset: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interfaces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default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register: net_info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Acceso en template/tarea: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{{ ansible_net_hostname 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{{ ansible_net_version }}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{{ ansible_net_interfaces }}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1E293B"/>
                </a:solidFill>
              </a:rPr>
              <a:t>Roles y Colecciones</a:t>
            </a:r>
            <a:endParaRPr lang="es-ES" sz="3200" dirty="0"/>
          </a:p>
        </p:txBody>
      </p:sp>
      <p:sp>
        <p:nvSpPr>
          <p:cNvPr id="3" name="TealBar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DarkBox"/>
          <p:cNvSpPr/>
          <p:nvPr/>
        </p:nvSpPr>
        <p:spPr>
          <a:xfrm>
            <a:off x="457200" y="1051560"/>
            <a:ext cx="4114800" cy="38176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CodeLabel"/>
          <p:cNvSpPr/>
          <p:nvPr/>
        </p:nvSpPr>
        <p:spPr>
          <a:xfrm>
            <a:off x="59436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4B8A6"/>
                </a:solidFill>
              </a:rPr>
              <a:t>Estructura de un Rol de Ansible</a:t>
            </a:r>
            <a:endParaRPr lang="es-ES" sz="1400" dirty="0"/>
          </a:p>
        </p:txBody>
      </p:sp>
      <p:sp>
        <p:nvSpPr>
          <p:cNvPr id="12" name="CodeText"/>
          <p:cNvSpPr/>
          <p:nvPr/>
        </p:nvSpPr>
        <p:spPr>
          <a:xfrm>
            <a:off x="594360" y="1486261"/>
            <a:ext cx="3840480" cy="2285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mi_rol</a:t>
            </a: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tasks/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main.yml       # tareas principales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defaults/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main.yml       # valor por defecto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vars/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main.yml       # vars fijas del rol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ospf.j2        # plantillas Jinja2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files/             # ficheros estáticos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meta/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main.yml       # dependencias entre roles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980" dirty="0"/>
          </a:p>
        </p:txBody>
      </p:sp>
      <p:sp>
        <p:nvSpPr>
          <p:cNvPr id="20" name="DarkBox"/>
          <p:cNvSpPr/>
          <p:nvPr/>
        </p:nvSpPr>
        <p:spPr>
          <a:xfrm>
            <a:off x="4663200" y="1051560"/>
            <a:ext cx="4023360" cy="1920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CodeLabel"/>
          <p:cNvSpPr/>
          <p:nvPr/>
        </p:nvSpPr>
        <p:spPr>
          <a:xfrm>
            <a:off x="480036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4B8A6"/>
                </a:solidFill>
              </a:rPr>
              <a:t>Usar un rol en el playbook</a:t>
            </a:r>
            <a:endParaRPr lang="es-ES" sz="1400" dirty="0"/>
          </a:p>
        </p:txBody>
      </p:sp>
      <p:sp>
        <p:nvSpPr>
          <p:cNvPr id="22" name="CodeText"/>
          <p:cNvSpPr/>
          <p:nvPr/>
        </p:nvSpPr>
        <p:spPr>
          <a:xfrm>
            <a:off x="4800360" y="14173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hosts: cisco_routers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roles: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role: cisco_base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role: cisco_ospf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vars: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ospf_process_id: 1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ansible.builtin.import_role: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cisco_ospf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include_role (dinámico — runtime):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ansible.builtin.include_role: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cisco_ospf</a:t>
            </a:r>
            <a:endParaRPr lang="en-US" sz="980" dirty="0"/>
          </a:p>
        </p:txBody>
      </p:sp>
      <p:sp>
        <p:nvSpPr>
          <p:cNvPr id="30" name="LightBox"/>
          <p:cNvSpPr/>
          <p:nvPr/>
        </p:nvSpPr>
        <p:spPr>
          <a:xfrm>
            <a:off x="4663200" y="3063600"/>
            <a:ext cx="4023360" cy="173736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ecHdr"/>
          <p:cNvSpPr/>
          <p:nvPr/>
        </p:nvSpPr>
        <p:spPr>
          <a:xfrm>
            <a:off x="4800360" y="3109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b="1" dirty="0">
                <a:solidFill>
                  <a:srgbClr val="15803D"/>
                </a:solidFill>
              </a:rPr>
              <a:t>Colecciones (Ansible Galaxy)</a:t>
            </a:r>
            <a:endParaRPr lang="es-ES" sz="1500" dirty="0"/>
          </a:p>
        </p:txBody>
      </p:sp>
      <p:sp>
        <p:nvSpPr>
          <p:cNvPr id="32" name="BulletText"/>
          <p:cNvSpPr/>
          <p:nvPr/>
        </p:nvSpPr>
        <p:spPr>
          <a:xfrm>
            <a:off x="4800360" y="34293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900" b="1" dirty="0">
                <a:solidFill>
                  <a:srgbClr val="334155"/>
                </a:solidFill>
              </a:rPr>
              <a:t>Una colección empaqueta:</a:t>
            </a:r>
            <a:r>
              <a:rPr lang="es-ES" sz="900" dirty="0">
                <a:solidFill>
                  <a:srgbClr val="334155"/>
                </a:solidFill>
              </a:rPr>
              <a:t> módulos + roles + plugins + playbooks</a:t>
            </a:r>
            <a:endParaRPr lang="es-ES" sz="900" dirty="0"/>
          </a:p>
          <a:p>
            <a:pPr marL="0" indent="0">
              <a:buNone/>
            </a:pPr>
            <a:r>
              <a:rPr lang="es-ES" sz="900" b="1" dirty="0">
                <a:solidFill>
                  <a:srgbClr val="334155"/>
                </a:solidFill>
              </a:rPr>
              <a:t>cisco.ios:</a:t>
            </a:r>
            <a:r>
              <a:rPr lang="es-ES" sz="900" dirty="0">
                <a:solidFill>
                  <a:srgbClr val="334155"/>
                </a:solidFill>
              </a:rPr>
              <a:t> ios_config, ios_facts, ios_command…</a:t>
            </a:r>
            <a:endParaRPr lang="es-ES" sz="900" dirty="0"/>
          </a:p>
          <a:p>
            <a:pPr marL="0" indent="0">
              <a:buNone/>
            </a:pPr>
            <a:r>
              <a:rPr lang="es-ES" sz="900" b="1" dirty="0">
                <a:solidFill>
                  <a:srgbClr val="334155"/>
                </a:solidFill>
              </a:rPr>
              <a:t>junipernetworks.junos:</a:t>
            </a:r>
            <a:r>
              <a:rPr lang="es-ES" sz="900" dirty="0">
                <a:solidFill>
                  <a:srgbClr val="334155"/>
                </a:solidFill>
              </a:rPr>
              <a:t> junos_config, junos_rpc…</a:t>
            </a:r>
            <a:endParaRPr lang="es-ES" sz="900" dirty="0"/>
          </a:p>
          <a:p>
            <a:pPr marL="0" indent="0">
              <a:buNone/>
            </a:pPr>
            <a:r>
              <a:rPr lang="es-ES" sz="900" b="1" dirty="0">
                <a:solidFill>
                  <a:srgbClr val="334155"/>
                </a:solidFill>
              </a:rPr>
              <a:t>arista.eos:</a:t>
            </a:r>
            <a:r>
              <a:rPr lang="es-ES" sz="900" dirty="0">
                <a:solidFill>
                  <a:srgbClr val="334155"/>
                </a:solidFill>
              </a:rPr>
              <a:t> eos_config, eos_vlans…</a:t>
            </a:r>
            <a:endParaRPr lang="es-ES" sz="900" dirty="0"/>
          </a:p>
          <a:p>
            <a:pPr marL="0" indent="0">
              <a:buNone/>
            </a:pPr>
            <a:r>
              <a:rPr lang="es-ES" sz="900" b="1" dirty="0">
                <a:solidFill>
                  <a:srgbClr val="334155"/>
                </a:solidFill>
              </a:rPr>
              <a:t>ansible.netcommon:</a:t>
            </a:r>
            <a:r>
              <a:rPr lang="es-ES" sz="900" dirty="0">
                <a:solidFill>
                  <a:srgbClr val="334155"/>
                </a:solidFill>
              </a:rPr>
              <a:t> net_ping, net_get, parsers…</a:t>
            </a:r>
            <a:endParaRPr lang="es-ES" sz="900" dirty="0"/>
          </a:p>
          <a:p>
            <a:pPr marL="0" indent="0">
              <a:buNone/>
            </a:pPr>
            <a:endParaRPr lang="es-ES" sz="900" dirty="0"/>
          </a:p>
          <a:p>
            <a:pPr marL="0" indent="0">
              <a:buNone/>
            </a:pPr>
            <a:r>
              <a:rPr lang="es-ES" sz="900" b="1" dirty="0">
                <a:solidFill>
                  <a:srgbClr val="334155"/>
                </a:solidFill>
              </a:rPr>
              <a:t>$ ansible-galaxy collection install cisco.ios</a:t>
            </a:r>
            <a:endParaRPr lang="es-ES" sz="900" dirty="0"/>
          </a:p>
          <a:p>
            <a:pPr marL="0" indent="0">
              <a:buNone/>
            </a:pPr>
            <a:r>
              <a:rPr lang="es-ES" sz="900" b="1" dirty="0">
                <a:solidFill>
                  <a:srgbClr val="334155"/>
                </a:solidFill>
              </a:rPr>
              <a:t>requirements.yml → collections: [{name: cisco.ios}]</a:t>
            </a:r>
            <a:endParaRPr lang="es-E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Estructura de Proyecto Ansible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941833"/>
            <a:ext cx="5029200" cy="414615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ansible-project/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.gitlab-ci.yml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ansible.cfg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inventory/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production/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hosts.yml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staging/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hosts.yml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group_vars/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all/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main.yml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vault.yml (encrypted)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cisco_devices.yml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routers.yml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host_vars/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R1.yml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R2.yml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roles/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ospf/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tasks/main.yml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templates/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defaults/main.yml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vlans/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backup/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playbooks/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deploy_ospf.yml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backup_configs.yml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compliance_check.yml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templates/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golden_configs/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backups/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reports/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11844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1E293B"/>
                </a:solidFill>
              </a:rPr>
              <a:t>ansible-</a:t>
            </a:r>
            <a:r>
              <a:rPr lang="es-ES" sz="3200" b="1" dirty="0" err="1">
                <a:solidFill>
                  <a:srgbClr val="1E293B"/>
                </a:solidFill>
              </a:rPr>
              <a:t>core</a:t>
            </a:r>
            <a:r>
              <a:rPr lang="es-ES" sz="3200" b="1" dirty="0">
                <a:solidFill>
                  <a:srgbClr val="1E293B"/>
                </a:solidFill>
              </a:rPr>
              <a:t> vs ansible</a:t>
            </a:r>
            <a:endParaRPr lang="es-ES" sz="3200" dirty="0"/>
          </a:p>
        </p:txBody>
      </p:sp>
      <p:sp>
        <p:nvSpPr>
          <p:cNvPr id="3" name="TealBar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DarkBox"/>
          <p:cNvSpPr/>
          <p:nvPr/>
        </p:nvSpPr>
        <p:spPr>
          <a:xfrm>
            <a:off x="457200" y="1019736"/>
            <a:ext cx="411480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CodeLabel"/>
          <p:cNvSpPr/>
          <p:nvPr/>
        </p:nvSpPr>
        <p:spPr>
          <a:xfrm>
            <a:off x="59436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4B8A6"/>
                </a:solidFill>
              </a:rPr>
              <a:t>ansible-core (instalación mínima)</a:t>
            </a:r>
          </a:p>
          <a:p>
            <a:pPr marL="0" indent="0">
              <a:buNone/>
            </a:pPr>
            <a:r>
              <a:rPr lang="es-ES" sz="1400" b="1" dirty="0">
                <a:solidFill>
                  <a:srgbClr val="14B8A6"/>
                </a:solidFill>
              </a:rPr>
              <a:t>Ansible (instalación con colecciones)</a:t>
            </a:r>
            <a:endParaRPr lang="es-ES" sz="1400" dirty="0"/>
          </a:p>
        </p:txBody>
      </p:sp>
      <p:sp>
        <p:nvSpPr>
          <p:cNvPr id="12" name="CodeText"/>
          <p:cNvSpPr/>
          <p:nvPr/>
        </p:nvSpPr>
        <p:spPr>
          <a:xfrm>
            <a:off x="594360" y="141732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ansible-core     # core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ansible          # core + colecciones comunes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 --version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 [core 2.16.x]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version = 3.11.x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jinja version  = 3.1.x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Instalar colección de red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collection install cisco.ios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ansible-galaxy collection install -r requirements.yml</a:t>
            </a:r>
            <a:endParaRPr lang="en-US" sz="980" dirty="0"/>
          </a:p>
        </p:txBody>
      </p:sp>
      <p:sp>
        <p:nvSpPr>
          <p:cNvPr id="13" name="LightBox"/>
          <p:cNvSpPr/>
          <p:nvPr/>
        </p:nvSpPr>
        <p:spPr>
          <a:xfrm>
            <a:off x="457200" y="3520800"/>
            <a:ext cx="4114800" cy="12801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ecHdr"/>
          <p:cNvSpPr/>
          <p:nvPr/>
        </p:nvSpPr>
        <p:spPr>
          <a:xfrm>
            <a:off x="594360" y="3566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E293B"/>
                </a:solidFill>
              </a:rPr>
              <a:t>Comandos CLI esenciales</a:t>
            </a:r>
            <a:endParaRPr lang="es-ES" sz="1400" dirty="0"/>
          </a:p>
        </p:txBody>
      </p:sp>
      <p:sp>
        <p:nvSpPr>
          <p:cNvPr id="15" name="BulletText"/>
          <p:cNvSpPr/>
          <p:nvPr/>
        </p:nvSpPr>
        <p:spPr>
          <a:xfrm>
            <a:off x="594360" y="38865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100" b="1" dirty="0">
                <a:solidFill>
                  <a:srgbClr val="334155"/>
                </a:solidFill>
              </a:rPr>
              <a:t>ansible all -m ping</a:t>
            </a:r>
            <a:r>
              <a:rPr lang="es-ES" sz="1100" dirty="0">
                <a:solidFill>
                  <a:srgbClr val="334155"/>
                </a:solidFill>
              </a:rPr>
              <a:t>                    # test conectividad</a:t>
            </a:r>
            <a:endParaRPr lang="es-ES" sz="1100" dirty="0"/>
          </a:p>
          <a:p>
            <a:pPr marL="0" indent="0">
              <a:buNone/>
            </a:pPr>
            <a:r>
              <a:rPr lang="es-ES" sz="1100" b="1" dirty="0">
                <a:solidFill>
                  <a:srgbClr val="334155"/>
                </a:solidFill>
              </a:rPr>
              <a:t>ansible-playbook site.yml</a:t>
            </a:r>
            <a:r>
              <a:rPr lang="es-ES" sz="1100" dirty="0">
                <a:solidFill>
                  <a:srgbClr val="334155"/>
                </a:solidFill>
              </a:rPr>
              <a:t>  # ejecutar playbook</a:t>
            </a:r>
            <a:endParaRPr lang="es-ES" sz="1100" dirty="0"/>
          </a:p>
          <a:p>
            <a:pPr marL="0" indent="0">
              <a:buNone/>
            </a:pPr>
            <a:r>
              <a:rPr lang="es-ES" sz="1100" b="1" dirty="0">
                <a:solidFill>
                  <a:srgbClr val="334155"/>
                </a:solidFill>
              </a:rPr>
              <a:t>ansible-playbook site.yml --check</a:t>
            </a:r>
            <a:r>
              <a:rPr lang="es-ES" sz="1100" dirty="0">
                <a:solidFill>
                  <a:srgbClr val="334155"/>
                </a:solidFill>
              </a:rPr>
              <a:t>  # dry-run</a:t>
            </a:r>
            <a:endParaRPr lang="es-ES" sz="1100" dirty="0"/>
          </a:p>
          <a:p>
            <a:pPr marL="0" indent="0">
              <a:buNone/>
            </a:pPr>
            <a:r>
              <a:rPr lang="es-ES" sz="1100" b="1" dirty="0">
                <a:solidFill>
                  <a:srgbClr val="334155"/>
                </a:solidFill>
              </a:rPr>
              <a:t>ansible-doc cisco.ios.ios_config</a:t>
            </a:r>
            <a:r>
              <a:rPr lang="es-ES" sz="1100" dirty="0">
                <a:solidFill>
                  <a:srgbClr val="334155"/>
                </a:solidFill>
              </a:rPr>
              <a:t>  # ayuda módulo</a:t>
            </a:r>
            <a:endParaRPr lang="es-ES" sz="1100" dirty="0"/>
          </a:p>
        </p:txBody>
      </p:sp>
      <p:sp>
        <p:nvSpPr>
          <p:cNvPr id="20" name="LightBox"/>
          <p:cNvSpPr/>
          <p:nvPr/>
        </p:nvSpPr>
        <p:spPr>
          <a:xfrm>
            <a:off x="4663200" y="1051560"/>
            <a:ext cx="4023360" cy="37494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ecHdr"/>
          <p:cNvSpPr/>
          <p:nvPr/>
        </p:nvSpPr>
        <p:spPr>
          <a:xfrm>
            <a:off x="480036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500" b="1" dirty="0">
                <a:solidFill>
                  <a:srgbClr val="1E293B"/>
                </a:solidFill>
              </a:rPr>
              <a:t>Flujo de ejecución interno</a:t>
            </a:r>
            <a:endParaRPr lang="es-ES" sz="1500" dirty="0"/>
          </a:p>
        </p:txBody>
      </p:sp>
      <p:sp>
        <p:nvSpPr>
          <p:cNvPr id="22" name="BulletText"/>
          <p:cNvSpPr/>
          <p:nvPr/>
        </p:nvSpPr>
        <p:spPr>
          <a:xfrm>
            <a:off x="4800360" y="14173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1. Parse YAML</a:t>
            </a:r>
            <a:r>
              <a:rPr lang="es-ES" sz="1150" dirty="0">
                <a:solidFill>
                  <a:srgbClr val="334155"/>
                </a:solidFill>
              </a:rPr>
              <a:t> → leer playbook y validar sintaxis</a:t>
            </a:r>
            <a:endParaRPr lang="es-ES" sz="1150" dirty="0"/>
          </a:p>
          <a:p>
            <a:pPr marL="0" indent="0">
              <a:buNone/>
            </a:pP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2. Inventario + vars</a:t>
            </a:r>
            <a:r>
              <a:rPr lang="es-ES" sz="1150" dirty="0">
                <a:solidFill>
                  <a:srgbClr val="334155"/>
                </a:solidFill>
              </a:rPr>
              <a:t> → resolver grupos, host_vars, group_vars</a:t>
            </a:r>
            <a:endParaRPr lang="es-ES" sz="1150" dirty="0"/>
          </a:p>
          <a:p>
            <a:pPr marL="0" indent="0">
              <a:buNone/>
            </a:pP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3. Jinja2 render</a:t>
            </a:r>
            <a:r>
              <a:rPr lang="es-ES" sz="1150" dirty="0">
                <a:solidFill>
                  <a:srgbClr val="334155"/>
                </a:solidFill>
              </a:rPr>
              <a:t> → interpolar {{ variables }} en tasks</a:t>
            </a:r>
            <a:endParaRPr lang="es-ES" sz="1150" dirty="0"/>
          </a:p>
          <a:p>
            <a:pPr marL="0" indent="0">
              <a:buNone/>
            </a:pP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4. Serializar tarea</a:t>
            </a:r>
            <a:r>
              <a:rPr lang="es-ES" sz="1150" dirty="0">
                <a:solidFill>
                  <a:srgbClr val="334155"/>
                </a:solidFill>
              </a:rPr>
              <a:t> → convertir a JSON para el módulo</a:t>
            </a:r>
            <a:endParaRPr lang="es-ES" sz="1150" dirty="0"/>
          </a:p>
          <a:p>
            <a:pPr marL="0" indent="0">
              <a:buNone/>
            </a:pP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5. Transferir módulo</a:t>
            </a:r>
            <a:r>
              <a:rPr lang="es-ES" sz="1150" dirty="0">
                <a:solidFill>
                  <a:srgbClr val="334155"/>
                </a:solidFill>
              </a:rPr>
              <a:t> → enviar script Python via SSH al nodo</a:t>
            </a:r>
            <a:endParaRPr lang="es-ES" sz="1150" dirty="0"/>
          </a:p>
          <a:p>
            <a:pPr marL="0" indent="0">
              <a:buNone/>
            </a:pP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6. Ejecutar en nodo</a:t>
            </a:r>
            <a:r>
              <a:rPr lang="es-ES" sz="1150" dirty="0">
                <a:solidFill>
                  <a:srgbClr val="334155"/>
                </a:solidFill>
              </a:rPr>
              <a:t> → correr módulo, capturar stdout JSON</a:t>
            </a:r>
            <a:endParaRPr lang="es-ES" sz="1150" dirty="0"/>
          </a:p>
          <a:p>
            <a:pPr marL="0" indent="0">
              <a:buNone/>
            </a:pPr>
            <a:endParaRPr lang="es-ES" sz="1150" dirty="0"/>
          </a:p>
          <a:p>
            <a:pPr marL="0" indent="0">
              <a:buNone/>
            </a:pPr>
            <a:r>
              <a:rPr lang="es-ES" sz="1150" b="1" dirty="0">
                <a:solidFill>
                  <a:srgbClr val="334155"/>
                </a:solidFill>
              </a:rPr>
              <a:t>7. Evaluar resultado</a:t>
            </a:r>
            <a:r>
              <a:rPr lang="es-ES" sz="1150" dirty="0">
                <a:solidFill>
                  <a:srgbClr val="334155"/>
                </a:solidFill>
              </a:rPr>
              <a:t> → detección estado: changed / failed / ok</a:t>
            </a:r>
            <a:endParaRPr lang="es-ES" sz="1150" dirty="0"/>
          </a:p>
          <a:p>
            <a:pPr marL="0" indent="0">
              <a:buNone/>
            </a:pPr>
            <a:endParaRPr lang="es-E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Ansible Vault - Gestión de Credenciales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100665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155"/>
                </a:solidFill>
              </a:rPr>
              <a:t>Ansible Vault se </a:t>
            </a:r>
            <a:r>
              <a:rPr lang="en-US" sz="1400" i="1" dirty="0" err="1">
                <a:solidFill>
                  <a:srgbClr val="334155"/>
                </a:solidFill>
              </a:rPr>
              <a:t>utiliza</a:t>
            </a:r>
            <a:r>
              <a:rPr lang="en-US" sz="1400" i="1" dirty="0">
                <a:solidFill>
                  <a:srgbClr val="334155"/>
                </a:solidFill>
              </a:rPr>
              <a:t> para </a:t>
            </a:r>
            <a:r>
              <a:rPr lang="en-US" sz="1400" i="1" dirty="0" err="1">
                <a:solidFill>
                  <a:srgbClr val="334155"/>
                </a:solidFill>
              </a:rPr>
              <a:t>cifrar</a:t>
            </a:r>
            <a:r>
              <a:rPr lang="en-US" sz="1400" i="1" dirty="0">
                <a:solidFill>
                  <a:srgbClr val="334155"/>
                </a:solidFill>
              </a:rPr>
              <a:t> </a:t>
            </a:r>
            <a:r>
              <a:rPr lang="en-US" sz="1400" i="1" dirty="0" err="1">
                <a:solidFill>
                  <a:srgbClr val="334155"/>
                </a:solidFill>
              </a:rPr>
              <a:t>parámetros</a:t>
            </a:r>
            <a:r>
              <a:rPr lang="en-US" sz="1400" i="1" dirty="0">
                <a:solidFill>
                  <a:srgbClr val="334155"/>
                </a:solidFill>
              </a:rPr>
              <a:t> </a:t>
            </a:r>
            <a:r>
              <a:rPr lang="en-US" sz="1400" i="1" dirty="0" err="1">
                <a:solidFill>
                  <a:srgbClr val="334155"/>
                </a:solidFill>
              </a:rPr>
              <a:t>sensibles</a:t>
            </a:r>
            <a:r>
              <a:rPr lang="en-US" sz="1400" i="1" dirty="0">
                <a:solidFill>
                  <a:srgbClr val="334155"/>
                </a:solidFill>
              </a:rPr>
              <a:t> (</a:t>
            </a:r>
            <a:r>
              <a:rPr lang="en-US" sz="1400" i="1" dirty="0" err="1">
                <a:solidFill>
                  <a:srgbClr val="334155"/>
                </a:solidFill>
              </a:rPr>
              <a:t>contraseñas</a:t>
            </a:r>
            <a:r>
              <a:rPr lang="en-US" sz="1400" i="1" dirty="0">
                <a:solidFill>
                  <a:srgbClr val="334155"/>
                </a:solidFill>
              </a:rPr>
              <a:t> o tokens) </a:t>
            </a:r>
            <a:r>
              <a:rPr lang="en-US" sz="1400" i="1" dirty="0" err="1">
                <a:solidFill>
                  <a:srgbClr val="334155"/>
                </a:solidFill>
              </a:rPr>
              <a:t>que</a:t>
            </a:r>
            <a:r>
              <a:rPr lang="en-US" sz="1400" i="1" dirty="0">
                <a:solidFill>
                  <a:srgbClr val="334155"/>
                </a:solidFill>
              </a:rPr>
              <a:t> luego se </a:t>
            </a:r>
            <a:r>
              <a:rPr lang="en-US" sz="1400" i="1" dirty="0" err="1">
                <a:solidFill>
                  <a:srgbClr val="334155"/>
                </a:solidFill>
              </a:rPr>
              <a:t>utilizan</a:t>
            </a:r>
            <a:r>
              <a:rPr lang="en-US" sz="1400" i="1" dirty="0">
                <a:solidFill>
                  <a:srgbClr val="334155"/>
                </a:solidFill>
              </a:rPr>
              <a:t> </a:t>
            </a:r>
            <a:r>
              <a:rPr lang="en-US" sz="1400" i="1" dirty="0" err="1">
                <a:solidFill>
                  <a:srgbClr val="334155"/>
                </a:solidFill>
              </a:rPr>
              <a:t>en</a:t>
            </a:r>
            <a:r>
              <a:rPr lang="en-US" sz="1400" i="1" dirty="0">
                <a:solidFill>
                  <a:srgbClr val="334155"/>
                </a:solidFill>
              </a:rPr>
              <a:t> </a:t>
            </a:r>
            <a:r>
              <a:rPr lang="en-US" sz="1400" i="1" dirty="0" err="1">
                <a:solidFill>
                  <a:srgbClr val="334155"/>
                </a:solidFill>
              </a:rPr>
              <a:t>los</a:t>
            </a:r>
            <a:r>
              <a:rPr lang="en-US" sz="1400" i="1" dirty="0">
                <a:solidFill>
                  <a:srgbClr val="334155"/>
                </a:solidFill>
              </a:rPr>
              <a:t> playbooks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99943"/>
            <a:ext cx="8229600" cy="1636776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6" name="Text 4"/>
          <p:cNvSpPr/>
          <p:nvPr/>
        </p:nvSpPr>
        <p:spPr>
          <a:xfrm>
            <a:off x="594360" y="1587137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</a:rPr>
              <a:t>Crear archivo cifrado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375481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nuevo archivo con contraseña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ansible-vault create group_vars/all/vault.yml</a:t>
            </a: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E2E8F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Contenido del archivo (sin cifrar):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vault_password</a:t>
            </a: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"MySecureP@ssw0rd"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3931920" cy="1580606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594360" y="3353889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Editar archivo cifrado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928655"/>
            <a:ext cx="3657600" cy="2939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Editar archivo existente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ansible-vault edit vault.yml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Cifrar archivo existente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ansible-vault encrypt passwords.yml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39789" y="3200400"/>
            <a:ext cx="3931920" cy="1580606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92040" y="3213463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Usar en playbooks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76949" y="3762103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Ejecutar con vault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deploy.yml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--ask-vault-pass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con archivo de contraseña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ansible-playbook deploy.yml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--vault-password-file ~/.vault_pass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dirty="0">
                <a:solidFill>
                  <a:srgbClr val="1E293B"/>
                </a:solidFill>
              </a:rPr>
              <a:t>Jinja2: Templates en Ansible</a:t>
            </a:r>
            <a:endParaRPr lang="es-ES" sz="3200" dirty="0"/>
          </a:p>
        </p:txBody>
      </p:sp>
      <p:sp>
        <p:nvSpPr>
          <p:cNvPr id="3" name="TealBar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DarkBox"/>
          <p:cNvSpPr/>
          <p:nvPr/>
        </p:nvSpPr>
        <p:spPr>
          <a:xfrm>
            <a:off x="457200" y="1051560"/>
            <a:ext cx="4114800" cy="3388504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CodeLabel"/>
          <p:cNvSpPr/>
          <p:nvPr/>
        </p:nvSpPr>
        <p:spPr>
          <a:xfrm>
            <a:off x="594360" y="1143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4B8A6"/>
                </a:solidFill>
              </a:rPr>
              <a:t>Condicionales y bucles</a:t>
            </a:r>
            <a:endParaRPr lang="es-ES" sz="1400" dirty="0"/>
          </a:p>
        </p:txBody>
      </p:sp>
      <p:sp>
        <p:nvSpPr>
          <p:cNvPr id="22" name="CodeText"/>
          <p:cNvSpPr/>
          <p:nvPr/>
        </p:nvSpPr>
        <p:spPr>
          <a:xfrm>
            <a:off x="594360" y="1410789"/>
            <a:ext cx="3840480" cy="269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if/elif/else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interface.shutdown is defined %}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shutdown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elif interface.speed is defined %}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speed {{ interface.speed }}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else %}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shutdown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endif %}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Bucle sobre lista de interfaces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iface in interfaces %}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{{ iface.name }}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description {{ iface.description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| default('Managed by Ansible') }}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{{ iface.ip | ipaddr('address') }}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{{ iface.ip | ipaddr('netmask') }}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endfor %}</a:t>
            </a:r>
            <a:endParaRPr lang="en-US" sz="920" dirty="0"/>
          </a:p>
        </p:txBody>
      </p:sp>
      <p:sp>
        <p:nvSpPr>
          <p:cNvPr id="30" name="DarkBox"/>
          <p:cNvSpPr/>
          <p:nvPr/>
        </p:nvSpPr>
        <p:spPr>
          <a:xfrm>
            <a:off x="4663200" y="1048654"/>
            <a:ext cx="4023360" cy="14630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CodeLabel"/>
          <p:cNvSpPr/>
          <p:nvPr/>
        </p:nvSpPr>
        <p:spPr>
          <a:xfrm>
            <a:off x="4709160" y="1079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4B8A6"/>
                </a:solidFill>
              </a:rPr>
              <a:t>Filtros de texto y listas</a:t>
            </a:r>
            <a:endParaRPr lang="es-ES" sz="1400" dirty="0"/>
          </a:p>
        </p:txBody>
      </p:sp>
      <p:sp>
        <p:nvSpPr>
          <p:cNvPr id="32" name="CodeText"/>
          <p:cNvSpPr/>
          <p:nvPr/>
        </p:nvSpPr>
        <p:spPr>
          <a:xfrm>
            <a:off x="4709160" y="1354032"/>
            <a:ext cx="3749040" cy="1005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hostname | upper }}        # R1-CISCO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hostname | lower }}        # r1-cisco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desc | default('N/A') }}   # si no existe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list | join(', ') }}       # a, b, 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items | length }}          # contar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items | unique | sort }}   # dedup + sort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items | selectattr('area','eq',0) | list }}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500" b="1" dirty="0">
                <a:solidFill>
                  <a:srgbClr val="1E293B"/>
                </a:solidFill>
              </a:rPr>
              <a:t>3. Caso Práctico: Lab OSPF con Ansible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Card1BG"/>
          <p:cNvSpPr/>
          <p:nvPr/>
        </p:nvSpPr>
        <p:spPr>
          <a:xfrm>
            <a:off x="457200" y="1050000"/>
            <a:ext cx="3886200" cy="3700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Card1Border"/>
          <p:cNvSpPr/>
          <p:nvPr/>
        </p:nvSpPr>
        <p:spPr>
          <a:xfrm>
            <a:off x="457200" y="1050000"/>
            <a:ext cx="73152" cy="3700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Card1Text"/>
          <p:cNvSpPr/>
          <p:nvPr/>
        </p:nvSpPr>
        <p:spPr>
          <a:xfrm>
            <a:off x="600000" y="1130000"/>
            <a:ext cx="3650000" cy="3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800" b="1" dirty="0">
                <a:solidFill>
                  <a:srgbClr val="1E293B"/>
                </a:solidFill>
              </a:rPr>
              <a:t>Descripción</a:t>
            </a:r>
          </a:p>
          <a:p>
            <a:endParaRPr lang="es-ES" sz="1100" dirty="0"/>
          </a:p>
          <a:p>
            <a:pPr marL="0" indent="0">
              <a:buNone/>
            </a:pPr>
            <a:r>
              <a:rPr lang="es-ES" sz="1200" dirty="0">
                <a:solidFill>
                  <a:srgbClr val="334155"/>
                </a:solidFill>
              </a:rPr>
              <a:t>Topología OSPF multi-área sobre 6 routers Cisco C7200 emulados en GNS3, desplegada y verificada automáticamente con Ansible y la colección cisco.ios.</a:t>
            </a:r>
          </a:p>
          <a:p>
            <a:endParaRPr lang="es-ES" sz="1100" dirty="0"/>
          </a:p>
          <a:p>
            <a:pPr marL="0" indent="0">
              <a:buNone/>
            </a:pPr>
            <a:r>
              <a:rPr lang="es-ES" sz="1800" b="1" dirty="0">
                <a:solidFill>
                  <a:srgbClr val="1E293B"/>
                </a:solidFill>
              </a:rPr>
              <a:t>Objetivos</a:t>
            </a:r>
          </a:p>
          <a:p>
            <a:endParaRPr lang="es-ES" sz="1100" dirty="0"/>
          </a:p>
          <a:p>
            <a:pPr marL="0" indent="0">
              <a:buNone/>
            </a:pPr>
            <a:r>
              <a:rPr lang="es-ES" sz="1100" b="1" dirty="0">
                <a:solidFill>
                  <a:srgbClr val="0D9488"/>
                </a:solidFill>
              </a:rPr>
              <a:t>▶  </a:t>
            </a:r>
            <a:r>
              <a:rPr lang="es-ES" sz="1200" dirty="0">
                <a:solidFill>
                  <a:srgbClr val="334155"/>
                </a:solidFill>
              </a:rPr>
              <a:t>Configurar OSPF multi-área (Area 0, 10, 20)</a:t>
            </a:r>
          </a:p>
          <a:p>
            <a:pPr marL="0" indent="0">
              <a:buNone/>
            </a:pPr>
            <a:r>
              <a:rPr lang="es-ES" sz="1100" b="1" dirty="0">
                <a:solidFill>
                  <a:srgbClr val="0D9488"/>
                </a:solidFill>
              </a:rPr>
              <a:t>▶  </a:t>
            </a:r>
            <a:r>
              <a:rPr lang="es-ES" sz="1200" dirty="0">
                <a:solidFill>
                  <a:srgbClr val="334155"/>
                </a:solidFill>
              </a:rPr>
              <a:t>Automatizar despliegue con playbooks Ansible</a:t>
            </a:r>
          </a:p>
          <a:p>
            <a:pPr marL="0" indent="0">
              <a:buNone/>
            </a:pPr>
            <a:r>
              <a:rPr lang="es-ES" sz="1100" b="1" dirty="0">
                <a:solidFill>
                  <a:srgbClr val="0D9488"/>
                </a:solidFill>
              </a:rPr>
              <a:t>▶  </a:t>
            </a:r>
            <a:r>
              <a:rPr lang="es-ES" sz="1200" dirty="0">
                <a:solidFill>
                  <a:srgbClr val="334155"/>
                </a:solidFill>
              </a:rPr>
              <a:t>Verificar convergencia automáticamente</a:t>
            </a:r>
          </a:p>
          <a:p>
            <a:pPr marL="0" indent="0">
              <a:buNone/>
            </a:pPr>
            <a:r>
              <a:rPr lang="es-ES" sz="1100" b="1" dirty="0">
                <a:solidFill>
                  <a:srgbClr val="0D9488"/>
                </a:solidFill>
              </a:rPr>
              <a:t>▶  </a:t>
            </a:r>
            <a:r>
              <a:rPr lang="es-ES" sz="1200" dirty="0">
                <a:solidFill>
                  <a:srgbClr val="334155"/>
                </a:solidFill>
              </a:rPr>
              <a:t>Aplicar IaC real con NetDevOps</a:t>
            </a:r>
          </a:p>
        </p:txBody>
      </p:sp>
      <p:sp>
        <p:nvSpPr>
          <p:cNvPr id="7" name="Card2BG"/>
          <p:cNvSpPr/>
          <p:nvPr/>
        </p:nvSpPr>
        <p:spPr>
          <a:xfrm>
            <a:off x="4572000" y="1050000"/>
            <a:ext cx="4114800" cy="3700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Card2Border"/>
          <p:cNvSpPr/>
          <p:nvPr/>
        </p:nvSpPr>
        <p:spPr>
          <a:xfrm>
            <a:off x="4572000" y="1050000"/>
            <a:ext cx="73152" cy="3700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Card2Text"/>
          <p:cNvSpPr/>
          <p:nvPr/>
        </p:nvSpPr>
        <p:spPr>
          <a:xfrm>
            <a:off x="4720000" y="1130000"/>
            <a:ext cx="3880000" cy="3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800" b="1" dirty="0">
                <a:solidFill>
                  <a:srgbClr val="1E293B"/>
                </a:solidFill>
              </a:rPr>
              <a:t>Stack Tecnológico</a:t>
            </a:r>
          </a:p>
          <a:p>
            <a:endParaRPr lang="es-ES" sz="1100" dirty="0"/>
          </a:p>
          <a:p>
            <a:pPr marL="0" indent="0">
              <a:buNone/>
            </a:pPr>
            <a:r>
              <a:rPr lang="es-ES" sz="1300" b="1" dirty="0">
                <a:solidFill>
                  <a:srgbClr val="0891B2"/>
                </a:solidFill>
              </a:rPr>
              <a:t>Emulación: </a:t>
            </a:r>
            <a:r>
              <a:rPr lang="es-ES" sz="1300" dirty="0">
                <a:solidFill>
                  <a:srgbClr val="334155"/>
                </a:solidFill>
              </a:rPr>
              <a:t>GNS3 2.2.33+ + Dynamips</a:t>
            </a:r>
          </a:p>
          <a:p>
            <a:pPr marL="0" indent="0">
              <a:buNone/>
            </a:pPr>
            <a:r>
              <a:rPr lang="es-ES" sz="1300" b="1" dirty="0">
                <a:solidFill>
                  <a:srgbClr val="0891B2"/>
                </a:solidFill>
              </a:rPr>
              <a:t>Routers: </a:t>
            </a:r>
            <a:r>
              <a:rPr lang="es-ES" sz="1300" dirty="0">
                <a:solidFill>
                  <a:srgbClr val="334155"/>
                </a:solidFill>
              </a:rPr>
              <a:t>6 x Cisco C7200 (IOS 15.2)</a:t>
            </a:r>
          </a:p>
          <a:p>
            <a:pPr marL="0" indent="0">
              <a:buNone/>
            </a:pPr>
            <a:r>
              <a:rPr lang="es-ES" sz="1300" b="1" dirty="0">
                <a:solidFill>
                  <a:srgbClr val="0891B2"/>
                </a:solidFill>
              </a:rPr>
              <a:t>Colección: </a:t>
            </a:r>
            <a:r>
              <a:rPr lang="es-ES" sz="1300" dirty="0">
                <a:solidFill>
                  <a:srgbClr val="334155"/>
                </a:solidFill>
              </a:rPr>
              <a:t>ansible + cisco.ios</a:t>
            </a:r>
          </a:p>
          <a:p>
            <a:pPr marL="0" indent="0">
              <a:buNone/>
            </a:pPr>
            <a:r>
              <a:rPr lang="es-ES" sz="1300" b="1" dirty="0">
                <a:solidFill>
                  <a:srgbClr val="0891B2"/>
                </a:solidFill>
              </a:rPr>
              <a:t>Protocolo: </a:t>
            </a:r>
            <a:r>
              <a:rPr lang="es-ES" sz="1300" dirty="0">
                <a:solidFill>
                  <a:srgbClr val="334155"/>
                </a:solidFill>
              </a:rPr>
              <a:t>OSPF multi-área (RFC 2328)</a:t>
            </a:r>
          </a:p>
          <a:p>
            <a:pPr marL="0" indent="0">
              <a:buNone/>
            </a:pPr>
            <a:r>
              <a:rPr lang="es-ES" sz="1300" b="1" dirty="0">
                <a:solidFill>
                  <a:srgbClr val="0891B2"/>
                </a:solidFill>
              </a:rPr>
              <a:t>Conexión: </a:t>
            </a:r>
            <a:r>
              <a:rPr lang="es-ES" sz="1300" dirty="0">
                <a:solidFill>
                  <a:srgbClr val="334155"/>
                </a:solidFill>
              </a:rPr>
              <a:t>SSH (network_cli)</a:t>
            </a:r>
          </a:p>
          <a:p>
            <a:endParaRPr lang="es-ES" sz="1100" dirty="0"/>
          </a:p>
          <a:p>
            <a:pPr marL="0" indent="0">
              <a:buNone/>
            </a:pPr>
            <a:r>
              <a:rPr lang="es-ES" sz="1800" b="1" dirty="0">
                <a:solidFill>
                  <a:srgbClr val="1E293B"/>
                </a:solidFill>
              </a:rPr>
              <a:t>Recursos del Host</a:t>
            </a:r>
          </a:p>
          <a:p>
            <a:endParaRPr lang="es-ES" sz="1100" dirty="0"/>
          </a:p>
          <a:p>
            <a:pPr marL="0" indent="0">
              <a:buNone/>
            </a:pPr>
            <a:r>
              <a:rPr lang="es-ES" sz="1300" dirty="0">
                <a:solidFill>
                  <a:srgbClr val="334155"/>
                </a:solidFill>
              </a:rPr>
              <a:t>RAM: 8 GB rec. | CPU: 4 cores | Disco: 5 GB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dirty="0">
                <a:solidFill>
                  <a:srgbClr val="1E293B"/>
                </a:solidFill>
              </a:rPr>
              <a:t>Topología OSPF Multi-Área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Area0BG"/>
          <p:cNvSpPr/>
          <p:nvPr/>
        </p:nvSpPr>
        <p:spPr>
          <a:xfrm>
            <a:off x="457200" y="1030263"/>
            <a:ext cx="8229600" cy="150000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1" name="Area0Label"/>
          <p:cNvSpPr/>
          <p:nvPr/>
        </p:nvSpPr>
        <p:spPr>
          <a:xfrm>
            <a:off x="550000" y="1080000"/>
            <a:ext cx="2284640" cy="423074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FFFFFF"/>
                </a:solidFill>
              </a:rPr>
              <a:t>OSPF Area 0 — Backbone</a:t>
            </a:r>
          </a:p>
        </p:txBody>
      </p:sp>
      <p:sp>
        <p:nvSpPr>
          <p:cNvPr id="20" name="R1"/>
          <p:cNvSpPr/>
          <p:nvPr/>
        </p:nvSpPr>
        <p:spPr>
          <a:xfrm>
            <a:off x="704057" y="1881112"/>
            <a:ext cx="760000" cy="38000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</a:rPr>
              <a:t>R1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BFDBFE"/>
                </a:solidFill>
              </a:rPr>
              <a:t>.100.1</a:t>
            </a:r>
          </a:p>
        </p:txBody>
      </p:sp>
      <p:sp>
        <p:nvSpPr>
          <p:cNvPr id="21" name="R2"/>
          <p:cNvSpPr/>
          <p:nvPr/>
        </p:nvSpPr>
        <p:spPr>
          <a:xfrm>
            <a:off x="2920000" y="1416043"/>
            <a:ext cx="760000" cy="38000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</a:rPr>
              <a:t>R2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BFDBFE"/>
                </a:solidFill>
              </a:rPr>
              <a:t>.100.2</a:t>
            </a:r>
          </a:p>
        </p:txBody>
      </p:sp>
      <p:sp>
        <p:nvSpPr>
          <p:cNvPr id="22" name="R3"/>
          <p:cNvSpPr/>
          <p:nvPr/>
        </p:nvSpPr>
        <p:spPr>
          <a:xfrm>
            <a:off x="4170136" y="2373063"/>
            <a:ext cx="920000" cy="3900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</a:rPr>
              <a:t>R3 — ABR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CCFBF1"/>
                </a:solidFill>
              </a:rPr>
              <a:t>Area 0/10/20</a:t>
            </a:r>
          </a:p>
        </p:txBody>
      </p:sp>
      <p:sp>
        <p:nvSpPr>
          <p:cNvPr id="30" name="Link12"/>
          <p:cNvSpPr/>
          <p:nvPr/>
        </p:nvSpPr>
        <p:spPr>
          <a:xfrm>
            <a:off x="1675000" y="1669129"/>
            <a:ext cx="11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1D4ED8"/>
                </a:solidFill>
              </a:rPr>
              <a:t>10.0.12.0/30</a:t>
            </a:r>
          </a:p>
        </p:txBody>
      </p:sp>
      <p:sp>
        <p:nvSpPr>
          <p:cNvPr id="31" name="Link13"/>
          <p:cNvSpPr/>
          <p:nvPr/>
        </p:nvSpPr>
        <p:spPr>
          <a:xfrm>
            <a:off x="2913200" y="2246043"/>
            <a:ext cx="11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1D4ED8"/>
                </a:solidFill>
              </a:rPr>
              <a:t>10.0.13.0/30</a:t>
            </a:r>
          </a:p>
        </p:txBody>
      </p:sp>
      <p:sp>
        <p:nvSpPr>
          <p:cNvPr id="32" name="Link23"/>
          <p:cNvSpPr/>
          <p:nvPr/>
        </p:nvSpPr>
        <p:spPr>
          <a:xfrm>
            <a:off x="4240000" y="1625843"/>
            <a:ext cx="11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1D4ED8"/>
                </a:solidFill>
              </a:rPr>
              <a:t>10.0.23.0/30</a:t>
            </a:r>
          </a:p>
        </p:txBody>
      </p:sp>
      <p:sp>
        <p:nvSpPr>
          <p:cNvPr id="40" name="Area10BG"/>
          <p:cNvSpPr/>
          <p:nvPr/>
        </p:nvSpPr>
        <p:spPr>
          <a:xfrm>
            <a:off x="457200" y="2746043"/>
            <a:ext cx="3782800" cy="200000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41" name="Area10Label"/>
          <p:cNvSpPr/>
          <p:nvPr/>
        </p:nvSpPr>
        <p:spPr>
          <a:xfrm>
            <a:off x="550000" y="2775000"/>
            <a:ext cx="1500000" cy="2400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</a:rPr>
              <a:t>OSPF Area 10</a:t>
            </a:r>
          </a:p>
        </p:txBody>
      </p:sp>
      <p:sp>
        <p:nvSpPr>
          <p:cNvPr id="42" name="R4"/>
          <p:cNvSpPr/>
          <p:nvPr/>
        </p:nvSpPr>
        <p:spPr>
          <a:xfrm>
            <a:off x="2894032" y="2779194"/>
            <a:ext cx="760000" cy="3600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</a:rPr>
              <a:t>R4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D1FAE5"/>
                </a:solidFill>
              </a:rPr>
              <a:t>.100.4</a:t>
            </a:r>
          </a:p>
        </p:txBody>
      </p:sp>
      <p:sp>
        <p:nvSpPr>
          <p:cNvPr id="43" name="R5"/>
          <p:cNvSpPr/>
          <p:nvPr/>
        </p:nvSpPr>
        <p:spPr>
          <a:xfrm>
            <a:off x="4090709" y="3651531"/>
            <a:ext cx="920000" cy="3600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</a:rPr>
              <a:t>R5 — ABR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D1FAE5"/>
                </a:solidFill>
              </a:rPr>
              <a:t>Area 10/20</a:t>
            </a:r>
          </a:p>
        </p:txBody>
      </p:sp>
      <p:sp>
        <p:nvSpPr>
          <p:cNvPr id="44" name="Link34"/>
          <p:cNvSpPr/>
          <p:nvPr/>
        </p:nvSpPr>
        <p:spPr>
          <a:xfrm>
            <a:off x="3188466" y="2508243"/>
            <a:ext cx="95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059669"/>
                </a:solidFill>
              </a:rPr>
              <a:t>10.0.34.0/30</a:t>
            </a:r>
          </a:p>
        </p:txBody>
      </p:sp>
      <p:sp>
        <p:nvSpPr>
          <p:cNvPr id="45" name="Link45"/>
          <p:cNvSpPr/>
          <p:nvPr/>
        </p:nvSpPr>
        <p:spPr>
          <a:xfrm>
            <a:off x="3144375" y="3337800"/>
            <a:ext cx="95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059669"/>
                </a:solidFill>
              </a:rPr>
              <a:t>10.0.45.0/30</a:t>
            </a:r>
          </a:p>
        </p:txBody>
      </p:sp>
      <p:sp>
        <p:nvSpPr>
          <p:cNvPr id="50" name="Area20BG"/>
          <p:cNvSpPr/>
          <p:nvPr/>
        </p:nvSpPr>
        <p:spPr>
          <a:xfrm>
            <a:off x="5020968" y="2700000"/>
            <a:ext cx="3655831" cy="2000000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51" name="Area20Label"/>
          <p:cNvSpPr/>
          <p:nvPr/>
        </p:nvSpPr>
        <p:spPr>
          <a:xfrm>
            <a:off x="7091937" y="2795000"/>
            <a:ext cx="1500000" cy="240000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</a:rPr>
              <a:t>OSPF Area 20</a:t>
            </a:r>
          </a:p>
        </p:txBody>
      </p:sp>
      <p:sp>
        <p:nvSpPr>
          <p:cNvPr id="52" name="R6"/>
          <p:cNvSpPr/>
          <p:nvPr/>
        </p:nvSpPr>
        <p:spPr>
          <a:xfrm>
            <a:off x="6473428" y="3417500"/>
            <a:ext cx="920000" cy="45000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</a:rPr>
              <a:t>R6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FED7AA"/>
                </a:solidFill>
              </a:rPr>
              <a:t>.100.6</a:t>
            </a:r>
          </a:p>
        </p:txBody>
      </p:sp>
      <p:sp>
        <p:nvSpPr>
          <p:cNvPr id="53" name="Link36"/>
          <p:cNvSpPr/>
          <p:nvPr/>
        </p:nvSpPr>
        <p:spPr>
          <a:xfrm>
            <a:off x="5315771" y="2507389"/>
            <a:ext cx="95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EA580C"/>
                </a:solidFill>
              </a:rPr>
              <a:t>10.0.36.0/30</a:t>
            </a:r>
          </a:p>
        </p:txBody>
      </p:sp>
      <p:sp>
        <p:nvSpPr>
          <p:cNvPr id="54" name="Link56"/>
          <p:cNvSpPr/>
          <p:nvPr/>
        </p:nvSpPr>
        <p:spPr>
          <a:xfrm>
            <a:off x="5506638" y="3448820"/>
            <a:ext cx="95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EA580C"/>
                </a:solidFill>
              </a:rPr>
              <a:t>10.0.56.0/30</a:t>
            </a:r>
          </a:p>
        </p:txBody>
      </p:sp>
      <p:sp>
        <p:nvSpPr>
          <p:cNvPr id="60" name="MgmtNet"/>
          <p:cNvSpPr/>
          <p:nvPr/>
        </p:nvSpPr>
        <p:spPr>
          <a:xfrm>
            <a:off x="2390000" y="4900000"/>
            <a:ext cx="3920000" cy="240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FFFFFF"/>
                </a:solidFill>
              </a:rPr>
              <a:t>Management Switch — 192.168.100.0/24 (SSH Ansible)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600" b="1" dirty="0">
                <a:solidFill>
                  <a:srgbClr val="1E293B"/>
                </a:solidFill>
              </a:rPr>
              <a:t>Inventario de Nodos y Direccionamiento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ableHeader"/>
          <p:cNvSpPr/>
          <p:nvPr/>
        </p:nvSpPr>
        <p:spPr>
          <a:xfrm>
            <a:off x="457200" y="1020000"/>
            <a:ext cx="8229600" cy="350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FFFFFF"/>
                </a:solidFill>
              </a:rPr>
              <a:t>  Router           IP Gestión        Router-ID    Área OSPF           Rol                 Puerto</a:t>
            </a:r>
          </a:p>
        </p:txBody>
      </p:sp>
      <p:sp>
        <p:nvSpPr>
          <p:cNvPr id="20" name="RowR1"/>
          <p:cNvSpPr/>
          <p:nvPr/>
        </p:nvSpPr>
        <p:spPr>
          <a:xfrm>
            <a:off x="457200" y="1370000"/>
            <a:ext cx="8229600" cy="31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1D4ED8"/>
                </a:solidFill>
              </a:rPr>
              <a:t>  R1-CISCO     </a:t>
            </a:r>
            <a:r>
              <a:rPr lang="es-ES" sz="1100" dirty="0">
                <a:solidFill>
                  <a:srgbClr val="334155"/>
                </a:solidFill>
              </a:rPr>
              <a:t>192.168.100.1     1.1.1.1      Area 0               Internal             5001</a:t>
            </a:r>
          </a:p>
        </p:txBody>
      </p:sp>
      <p:sp>
        <p:nvSpPr>
          <p:cNvPr id="21" name="RowR2"/>
          <p:cNvSpPr/>
          <p:nvPr/>
        </p:nvSpPr>
        <p:spPr>
          <a:xfrm>
            <a:off x="457200" y="1680000"/>
            <a:ext cx="8229600" cy="31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1D4ED8"/>
                </a:solidFill>
              </a:rPr>
              <a:t>  R2-CISCO     </a:t>
            </a:r>
            <a:r>
              <a:rPr lang="es-ES" sz="1100" dirty="0">
                <a:solidFill>
                  <a:srgbClr val="334155"/>
                </a:solidFill>
              </a:rPr>
              <a:t>192.168.100.2     2.2.2.2      Area 0               Internal             5002</a:t>
            </a:r>
          </a:p>
        </p:txBody>
      </p:sp>
      <p:sp>
        <p:nvSpPr>
          <p:cNvPr id="22" name="RowR3"/>
          <p:cNvSpPr/>
          <p:nvPr/>
        </p:nvSpPr>
        <p:spPr>
          <a:xfrm>
            <a:off x="457200" y="1990000"/>
            <a:ext cx="8229600" cy="31000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0D9488"/>
                </a:solidFill>
              </a:rPr>
              <a:t>  R3-CISCO     </a:t>
            </a:r>
            <a:r>
              <a:rPr lang="es-ES" sz="1100" dirty="0">
                <a:solidFill>
                  <a:srgbClr val="134155"/>
                </a:solidFill>
              </a:rPr>
              <a:t>192.168.100.3     3.3.3.3      Area 0/10/20     </a:t>
            </a:r>
            <a:r>
              <a:rPr lang="es-ES" sz="1100" b="1" dirty="0">
                <a:solidFill>
                  <a:srgbClr val="0D9488"/>
                </a:solidFill>
              </a:rPr>
              <a:t>ABR                 </a:t>
            </a:r>
            <a:r>
              <a:rPr lang="es-ES" sz="1100" dirty="0">
                <a:solidFill>
                  <a:srgbClr val="334155"/>
                </a:solidFill>
              </a:rPr>
              <a:t>5003</a:t>
            </a:r>
          </a:p>
        </p:txBody>
      </p:sp>
      <p:sp>
        <p:nvSpPr>
          <p:cNvPr id="23" name="RowR4"/>
          <p:cNvSpPr/>
          <p:nvPr/>
        </p:nvSpPr>
        <p:spPr>
          <a:xfrm>
            <a:off x="457200" y="2300000"/>
            <a:ext cx="8229600" cy="31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059669"/>
                </a:solidFill>
              </a:rPr>
              <a:t>  R4-CISCO     </a:t>
            </a:r>
            <a:r>
              <a:rPr lang="es-ES" sz="1100" dirty="0">
                <a:solidFill>
                  <a:srgbClr val="334155"/>
                </a:solidFill>
              </a:rPr>
              <a:t>192.168.100.4     4.4.4.4      Area 10              </a:t>
            </a:r>
            <a:r>
              <a:rPr lang="es-ES" sz="1100" dirty="0" err="1">
                <a:solidFill>
                  <a:srgbClr val="334155"/>
                </a:solidFill>
              </a:rPr>
              <a:t>Internal</a:t>
            </a:r>
            <a:r>
              <a:rPr lang="es-ES" sz="1100" dirty="0">
                <a:solidFill>
                  <a:srgbClr val="334155"/>
                </a:solidFill>
              </a:rPr>
              <a:t>            5004</a:t>
            </a:r>
          </a:p>
        </p:txBody>
      </p:sp>
      <p:sp>
        <p:nvSpPr>
          <p:cNvPr id="24" name="RowR5"/>
          <p:cNvSpPr/>
          <p:nvPr/>
        </p:nvSpPr>
        <p:spPr>
          <a:xfrm>
            <a:off x="457200" y="2610000"/>
            <a:ext cx="8229600" cy="31000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059669"/>
                </a:solidFill>
              </a:rPr>
              <a:t>  R5-CISCO     </a:t>
            </a:r>
            <a:r>
              <a:rPr lang="es-ES" sz="1100" dirty="0">
                <a:solidFill>
                  <a:srgbClr val="334155"/>
                </a:solidFill>
              </a:rPr>
              <a:t>192.168.100.5     5.5.5.5      Area 10/20       </a:t>
            </a:r>
            <a:r>
              <a:rPr lang="es-ES" sz="1100" b="1" dirty="0">
                <a:solidFill>
                  <a:srgbClr val="059669"/>
                </a:solidFill>
              </a:rPr>
              <a:t>ABR                   </a:t>
            </a:r>
            <a:r>
              <a:rPr lang="es-ES" sz="1100" dirty="0">
                <a:solidFill>
                  <a:srgbClr val="334155"/>
                </a:solidFill>
              </a:rPr>
              <a:t>5005</a:t>
            </a:r>
          </a:p>
        </p:txBody>
      </p:sp>
      <p:sp>
        <p:nvSpPr>
          <p:cNvPr id="25" name="RowR6"/>
          <p:cNvSpPr/>
          <p:nvPr/>
        </p:nvSpPr>
        <p:spPr>
          <a:xfrm>
            <a:off x="457200" y="2920000"/>
            <a:ext cx="8229600" cy="3100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EA580C"/>
                </a:solidFill>
              </a:rPr>
              <a:t>  R6-CISCO     </a:t>
            </a:r>
            <a:r>
              <a:rPr lang="es-ES" sz="1100" dirty="0">
                <a:solidFill>
                  <a:srgbClr val="334155"/>
                </a:solidFill>
              </a:rPr>
              <a:t>192.168.100.6     6.6.6.6      Area 0/20        </a:t>
            </a:r>
            <a:r>
              <a:rPr lang="es-ES" sz="1100" b="1" dirty="0">
                <a:solidFill>
                  <a:srgbClr val="EA580C"/>
                </a:solidFill>
              </a:rPr>
              <a:t>  </a:t>
            </a:r>
            <a:r>
              <a:rPr lang="es-ES" sz="1100" dirty="0" err="1"/>
              <a:t>Internal</a:t>
            </a:r>
            <a:r>
              <a:rPr lang="es-ES" sz="1100" dirty="0"/>
              <a:t>   </a:t>
            </a:r>
            <a:r>
              <a:rPr lang="es-ES" sz="1100" b="1" dirty="0">
                <a:solidFill>
                  <a:srgbClr val="EA580C"/>
                </a:solidFill>
              </a:rPr>
              <a:t>          </a:t>
            </a:r>
            <a:r>
              <a:rPr lang="es-ES" sz="1100" dirty="0">
                <a:solidFill>
                  <a:srgbClr val="334155"/>
                </a:solidFill>
              </a:rPr>
              <a:t>5006</a:t>
            </a:r>
          </a:p>
        </p:txBody>
      </p:sp>
      <p:sp>
        <p:nvSpPr>
          <p:cNvPr id="30" name="InfoCard"/>
          <p:cNvSpPr/>
          <p:nvPr/>
        </p:nvSpPr>
        <p:spPr>
          <a:xfrm>
            <a:off x="457200" y="3380000"/>
            <a:ext cx="8229600" cy="1380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InfoBorder"/>
          <p:cNvSpPr/>
          <p:nvPr/>
        </p:nvSpPr>
        <p:spPr>
          <a:xfrm>
            <a:off x="457200" y="3380000"/>
            <a:ext cx="73152" cy="1380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InfoText"/>
          <p:cNvSpPr/>
          <p:nvPr/>
        </p:nvSpPr>
        <p:spPr>
          <a:xfrm>
            <a:off x="620000" y="3430000"/>
            <a:ext cx="8000000" cy="1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300" b="1" dirty="0">
                <a:solidFill>
                  <a:srgbClr val="1E293B"/>
                </a:solidFill>
              </a:rPr>
              <a:t>Imagen IOS: </a:t>
            </a:r>
            <a:r>
              <a:rPr lang="es-ES" sz="1300" dirty="0">
                <a:solidFill>
                  <a:srgbClr val="334155"/>
                </a:solidFill>
              </a:rPr>
              <a:t>c7200-advipservicesk9-mz.152-4.S5.image  |  NPE: npe-400  |  RAM: 512 MB  |  idlepc: 0x62cc930c</a:t>
            </a:r>
          </a:p>
          <a:p>
            <a:pPr marL="0" indent="0">
              <a:buNone/>
            </a:pPr>
            <a:r>
              <a:rPr lang="es-ES" sz="1300" b="1" dirty="0">
                <a:solidFill>
                  <a:srgbClr val="1E293B"/>
                </a:solidFill>
              </a:rPr>
              <a:t>Slots: </a:t>
            </a:r>
            <a:r>
              <a:rPr lang="es-ES" sz="1300" dirty="0">
                <a:solidFill>
                  <a:srgbClr val="334155"/>
                </a:solidFill>
              </a:rPr>
              <a:t>Slot 0: C7200-IO-GE-E (2×GE)  |  Slots 1-3: PA-GE (1×GE por slot)</a:t>
            </a:r>
          </a:p>
          <a:p>
            <a:pPr marL="0" indent="0">
              <a:buNone/>
            </a:pPr>
            <a:r>
              <a:rPr lang="es-ES" sz="1300" b="1" dirty="0">
                <a:solidFill>
                  <a:srgbClr val="1E293B"/>
                </a:solidFill>
              </a:rPr>
              <a:t>Acceso consola: </a:t>
            </a:r>
            <a:r>
              <a:rPr lang="es-ES" sz="1300" dirty="0">
                <a:solidFill>
                  <a:srgbClr val="334155"/>
                </a:solidFill>
              </a:rPr>
              <a:t>telnet localhost &lt;puerto&gt;  |  Credenciales Ansible: ansible / Ansible123!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dirty="0">
                <a:solidFill>
                  <a:srgbClr val="1E293B"/>
                </a:solidFill>
              </a:rPr>
              <a:t>Estructura del Proyecto Ansible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reeBG"/>
          <p:cNvSpPr/>
          <p:nvPr/>
        </p:nvSpPr>
        <p:spPr>
          <a:xfrm>
            <a:off x="457200" y="1050000"/>
            <a:ext cx="3800000" cy="3700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reeText"/>
          <p:cNvSpPr/>
          <p:nvPr/>
        </p:nvSpPr>
        <p:spPr>
          <a:xfrm>
            <a:off x="570000" y="1100000"/>
            <a:ext cx="3600000" cy="35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000" b="1" dirty="0">
                <a:solidFill>
                  <a:srgbClr val="0D9488"/>
                </a:solidFill>
              </a:rPr>
              <a:t>ospf-cisco-lab/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├── ansible.cfg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F59E0B"/>
                </a:solidFill>
              </a:rPr>
              <a:t>├── inventory/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│   ├── hosts.yml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│   └── group_vars/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│       ├── all.yml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│       └── cisco_routers.yml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F59E0B"/>
                </a:solidFill>
              </a:rPr>
              <a:t>├── playbooks/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34D399"/>
                </a:solidFill>
              </a:rPr>
              <a:t>│   ├── base_config.yml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34D399"/>
                </a:solidFill>
              </a:rPr>
              <a:t>│   ├── ospf_deploy.yml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34D399"/>
                </a:solidFill>
              </a:rPr>
              <a:t>│   ├── ospf_verify.yml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34D399"/>
                </a:solidFill>
              </a:rPr>
              <a:t>│   └── full_deploy.yml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F59E0B"/>
                </a:solidFill>
              </a:rPr>
              <a:t>└── roles/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    ├── cisco_base/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    └── cisco_ospf/</a:t>
            </a:r>
          </a:p>
        </p:txBody>
      </p:sp>
      <p:sp>
        <p:nvSpPr>
          <p:cNvPr id="10" name="HostsCard"/>
          <p:cNvSpPr/>
          <p:nvPr/>
        </p:nvSpPr>
        <p:spPr>
          <a:xfrm>
            <a:off x="4400000" y="1050000"/>
            <a:ext cx="4286800" cy="1720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HostsBorder"/>
          <p:cNvSpPr/>
          <p:nvPr/>
        </p:nvSpPr>
        <p:spPr>
          <a:xfrm>
            <a:off x="4400000" y="1050000"/>
            <a:ext cx="73152" cy="1720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HostsText"/>
          <p:cNvSpPr/>
          <p:nvPr/>
        </p:nvSpPr>
        <p:spPr>
          <a:xfrm>
            <a:off x="4540000" y="1090000"/>
            <a:ext cx="4100000" cy="1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300" b="1" dirty="0">
                <a:solidFill>
                  <a:srgbClr val="1E293B"/>
                </a:solidFill>
              </a:rPr>
              <a:t>inventory/hosts.yml</a:t>
            </a:r>
          </a:p>
          <a:p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0D9488"/>
                </a:solidFill>
              </a:rPr>
              <a:t>all: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  children: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F59E0B"/>
                </a:solidFill>
              </a:rPr>
              <a:t>    cisco_routers: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      hosts: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34D399"/>
                </a:solidFill>
              </a:rPr>
              <a:t>        R1-CISCO: {ansible_host: 192.168.100.1}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34D399"/>
                </a:solidFill>
              </a:rPr>
              <a:t>        R2-CISCO: {ansible_host: 192.168.100.2}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        ...  (R3 a R6)</a:t>
            </a:r>
          </a:p>
        </p:txBody>
      </p:sp>
      <p:sp>
        <p:nvSpPr>
          <p:cNvPr id="20" name="VarsCard"/>
          <p:cNvSpPr/>
          <p:nvPr/>
        </p:nvSpPr>
        <p:spPr>
          <a:xfrm>
            <a:off x="4400000" y="2880000"/>
            <a:ext cx="4286800" cy="18700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VarsBorder"/>
          <p:cNvSpPr/>
          <p:nvPr/>
        </p:nvSpPr>
        <p:spPr>
          <a:xfrm>
            <a:off x="4400000" y="2880000"/>
            <a:ext cx="73152" cy="18700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VarsText"/>
          <p:cNvSpPr/>
          <p:nvPr/>
        </p:nvSpPr>
        <p:spPr>
          <a:xfrm>
            <a:off x="4540000" y="2920000"/>
            <a:ext cx="4100000" cy="17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" sz="1300" b="1" dirty="0">
                <a:solidFill>
                  <a:srgbClr val="1E293B"/>
                </a:solidFill>
              </a:rPr>
              <a:t>group_vars/cisco_routers.yml</a:t>
            </a:r>
          </a:p>
          <a:p>
            <a:endParaRPr lang="es-ES" sz="1000" dirty="0"/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ansible_user: ansible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ansible_password: "{{ vault_password }}"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ansible_network_os: cisco.ios.ios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ansible_connection: network_cli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ansible_become: yes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ansible_become_method: enable</a:t>
            </a:r>
          </a:p>
          <a:p>
            <a:pPr marL="0" indent="0">
              <a:buNone/>
            </a:pPr>
            <a:r>
              <a:rPr lang="es-ES" sz="1000" dirty="0">
                <a:solidFill>
                  <a:srgbClr val="94A3B8"/>
                </a:solidFill>
              </a:rPr>
              <a:t>ospf_process_id: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600" b="1" dirty="0">
                <a:solidFill>
                  <a:srgbClr val="1E293B"/>
                </a:solidFill>
              </a:rPr>
              <a:t>Playbooks: Configuración, despliegue OSPF y verificación convergencia OSPF</a:t>
            </a:r>
          </a:p>
        </p:txBody>
      </p:sp>
      <p:sp>
        <p:nvSpPr>
          <p:cNvPr id="3" name="AccentBar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tep1Num"/>
          <p:cNvSpPr/>
          <p:nvPr/>
        </p:nvSpPr>
        <p:spPr>
          <a:xfrm>
            <a:off x="457200" y="1050000"/>
            <a:ext cx="380000" cy="38000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Step1Card"/>
          <p:cNvSpPr/>
          <p:nvPr/>
        </p:nvSpPr>
        <p:spPr>
          <a:xfrm>
            <a:off x="910000" y="1050000"/>
            <a:ext cx="7776800" cy="56000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E293B"/>
                </a:solidFill>
              </a:rPr>
              <a:t>Verificar inventario  </a:t>
            </a:r>
            <a:r>
              <a:rPr lang="es-ES" sz="1200" dirty="0">
                <a:solidFill>
                  <a:srgbClr val="0D9488"/>
                </a:solidFill>
              </a:rPr>
              <a:t>ansible all -m ping</a:t>
            </a:r>
            <a:r>
              <a:rPr lang="es-ES" sz="1200" dirty="0">
                <a:solidFill>
                  <a:srgbClr val="64748B"/>
                </a:solidFill>
              </a:rPr>
              <a:t>  — Comprueba SSH con los 6 routers</a:t>
            </a:r>
          </a:p>
        </p:txBody>
      </p:sp>
      <p:sp>
        <p:nvSpPr>
          <p:cNvPr id="20" name="Step2Num"/>
          <p:cNvSpPr/>
          <p:nvPr/>
        </p:nvSpPr>
        <p:spPr>
          <a:xfrm>
            <a:off x="457200" y="1750000"/>
            <a:ext cx="380000" cy="380000"/>
          </a:xfrm>
          <a:prstGeom prst="ellipse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Step2Card"/>
          <p:cNvSpPr/>
          <p:nvPr/>
        </p:nvSpPr>
        <p:spPr>
          <a:xfrm>
            <a:off x="910000" y="1750000"/>
            <a:ext cx="7776800" cy="7000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E293B"/>
                </a:solidFill>
              </a:rPr>
              <a:t>Configuración base  </a:t>
            </a:r>
            <a:r>
              <a:rPr lang="es-ES" sz="1200" dirty="0">
                <a:solidFill>
                  <a:srgbClr val="0891B2"/>
                </a:solidFill>
              </a:rPr>
              <a:t>ansible-playbook playbooks/base_config.yml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64748B"/>
                </a:solidFill>
              </a:rPr>
              <a:t>Configurar </a:t>
            </a:r>
            <a:r>
              <a:rPr lang="es-ES" sz="1100" dirty="0" err="1">
                <a:solidFill>
                  <a:srgbClr val="64748B"/>
                </a:solidFill>
              </a:rPr>
              <a:t>hostname</a:t>
            </a:r>
            <a:r>
              <a:rPr lang="es-ES" sz="1100" dirty="0">
                <a:solidFill>
                  <a:srgbClr val="64748B"/>
                </a:solidFill>
              </a:rPr>
              <a:t> e interfaces de gestión (192.168.100.x/24)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64748B"/>
                </a:solidFill>
              </a:rPr>
              <a:t>Conectividad SSH y usuario ansible deben estar ya configurados</a:t>
            </a:r>
          </a:p>
        </p:txBody>
      </p:sp>
      <p:sp>
        <p:nvSpPr>
          <p:cNvPr id="30" name="Step3Num"/>
          <p:cNvSpPr/>
          <p:nvPr/>
        </p:nvSpPr>
        <p:spPr>
          <a:xfrm>
            <a:off x="457200" y="2600000"/>
            <a:ext cx="380000" cy="38000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Step3Card"/>
          <p:cNvSpPr/>
          <p:nvPr/>
        </p:nvSpPr>
        <p:spPr>
          <a:xfrm>
            <a:off x="910000" y="2600000"/>
            <a:ext cx="7776800" cy="700000"/>
          </a:xfrm>
          <a:prstGeom prst="rect">
            <a:avLst/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E293B"/>
                </a:solidFill>
              </a:rPr>
              <a:t>Desplegar OSPF  </a:t>
            </a:r>
            <a:r>
              <a:rPr lang="es-ES" sz="1200" dirty="0">
                <a:solidFill>
                  <a:srgbClr val="7C3AED"/>
                </a:solidFill>
              </a:rPr>
              <a:t>ansible-playbook playbooks/ospf_deploy.yml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64748B"/>
                </a:solidFill>
              </a:rPr>
              <a:t>Router-ID, redes por área e interfaces OSPF— usa </a:t>
            </a:r>
            <a:r>
              <a:rPr lang="es-ES" sz="1100" dirty="0">
                <a:solidFill>
                  <a:srgbClr val="7C3AED"/>
                </a:solidFill>
              </a:rPr>
              <a:t>cisco.ios.ios_ospfv2</a:t>
            </a:r>
          </a:p>
        </p:txBody>
      </p:sp>
      <p:sp>
        <p:nvSpPr>
          <p:cNvPr id="40" name="Step4Num"/>
          <p:cNvSpPr/>
          <p:nvPr/>
        </p:nvSpPr>
        <p:spPr>
          <a:xfrm>
            <a:off x="457200" y="3460000"/>
            <a:ext cx="380000" cy="38000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Step4Card"/>
          <p:cNvSpPr/>
          <p:nvPr/>
        </p:nvSpPr>
        <p:spPr>
          <a:xfrm>
            <a:off x="910000" y="3460000"/>
            <a:ext cx="7776800" cy="700000"/>
          </a:xfrm>
          <a:prstGeom prst="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400" b="1" dirty="0">
                <a:solidFill>
                  <a:srgbClr val="1E293B"/>
                </a:solidFill>
              </a:rPr>
              <a:t>Verificar convergencia  </a:t>
            </a:r>
            <a:r>
              <a:rPr lang="es-ES" sz="1200" dirty="0">
                <a:solidFill>
                  <a:srgbClr val="059669"/>
                </a:solidFill>
              </a:rPr>
              <a:t>ansible-playbook playbooks/ospf_verify.yml</a:t>
            </a:r>
          </a:p>
          <a:p>
            <a:pPr marL="0" indent="0">
              <a:buNone/>
            </a:pPr>
            <a:r>
              <a:rPr lang="es-ES" sz="1100" dirty="0">
                <a:solidFill>
                  <a:srgbClr val="64748B"/>
                </a:solidFill>
              </a:rPr>
              <a:t>show ip ospf neighbor | show ip route ospf | show ip ospf database — falla si no hay convergencia</a:t>
            </a:r>
          </a:p>
        </p:txBody>
      </p:sp>
      <p:sp>
        <p:nvSpPr>
          <p:cNvPr id="50" name="TipCard"/>
          <p:cNvSpPr/>
          <p:nvPr/>
        </p:nvSpPr>
        <p:spPr>
          <a:xfrm>
            <a:off x="457200" y="4310000"/>
            <a:ext cx="8229600" cy="450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0D9488"/>
                </a:solidFill>
              </a:rPr>
              <a:t>⚡ Todo en uno: </a:t>
            </a:r>
            <a:r>
              <a:rPr lang="es-ES" sz="1200" dirty="0">
                <a:solidFill>
                  <a:srgbClr val="34D399"/>
                </a:solidFill>
              </a:rPr>
              <a:t>ansible-playbook playbooks/full_deploy.yml</a:t>
            </a:r>
            <a:r>
              <a:rPr lang="es-ES" sz="1200" dirty="0">
                <a:solidFill>
                  <a:srgbClr val="94A3B8"/>
                </a:solidFill>
              </a:rPr>
              <a:t>  — Ejecuta los pasos 2, 3 y 4 de forma secuencial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¿Preguntas?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Recursos Adicionales: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• Ansible Network Automation: docs.ansible.com/ansible/latest/network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• Ansible Galaxy (roles): galaxy.ansible.com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• Ejemplos prácticos: github.com/network-automation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435</TotalTime>
  <Words>2595</Words>
  <Application>Microsoft Office PowerPoint</Application>
  <PresentationFormat>Presentación en pantalla (16:9)</PresentationFormat>
  <Paragraphs>430</Paragraphs>
  <Slides>19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Courier New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Automatización de Redes con Ansible</dc:title>
  <dc:subject>PptxGenJS Presentation</dc:subject>
  <dc:creator>Master en Telecomunicaciones</dc:creator>
  <cp:lastModifiedBy>César Francisco San Nicolás Martínez</cp:lastModifiedBy>
  <cp:revision>24</cp:revision>
  <dcterms:created xsi:type="dcterms:W3CDTF">2026-03-06T11:58:27Z</dcterms:created>
  <dcterms:modified xsi:type="dcterms:W3CDTF">2026-03-24T11:02:01Z</dcterms:modified>
</cp:coreProperties>
</file>